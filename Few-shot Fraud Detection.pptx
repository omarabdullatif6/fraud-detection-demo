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9880600" cy="6858000"/>
  <p:notesSz cx="6858000" cy="9144000"/>
  <p:embeddedFontLst>
    <p:embeddedFont>
      <p:font typeface="Arimo" charset="1" panose="020B0604020202020204"/>
      <p:regular r:id="rId39"/>
    </p:embeddedFont>
    <p:embeddedFont>
      <p:font typeface="Arial MT Pro" charset="1" panose="020B0502020202020204"/>
      <p:regular r:id="rId40"/>
    </p:embeddedFont>
    <p:embeddedFont>
      <p:font typeface="Arial MT Pro Bold" charset="1" panose="020B0802020202020204"/>
      <p:regular r:id="rId41"/>
    </p:embeddedFont>
    <p:embeddedFont>
      <p:font typeface="Arimo Bold" charset="1" panose="020B0704020202020204"/>
      <p:regular r:id="rId46"/>
    </p:embeddedFont>
    <p:embeddedFont>
      <p:font typeface="Calibri (MS) Bold" charset="1" panose="020F0702030404030204"/>
      <p:regular r:id="rId47"/>
    </p:embeddedFont>
    <p:embeddedFont>
      <p:font typeface="Calibri (MS)" charset="1" panose="020F0502020204030204"/>
      <p:regular r:id="rId48"/>
    </p:embeddedFont>
    <p:embeddedFont>
      <p:font typeface="Canva Sans" charset="1" panose="020B0503030501040103"/>
      <p:regular r:id="rId49"/>
    </p:embeddedFont>
    <p:embeddedFont>
      <p:font typeface="Droid Arabic Kufi Bold" charset="1" panose="020B0806030804020204"/>
      <p:regular r:id="rId52"/>
    </p:embeddedFont>
    <p:embeddedFont>
      <p:font typeface="Droid Arabic Kufi" charset="1" panose="020B0606030804020204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notesMasters/notesMaster1.xml" Type="http://schemas.openxmlformats.org/officeDocument/2006/relationships/notesMaster"/><Relationship Id="rId37" Target="theme/theme2.xml" Type="http://schemas.openxmlformats.org/officeDocument/2006/relationships/theme"/><Relationship Id="rId38" Target="notesSlides/notesSlide1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notesSlides/notesSlide2.xml" Type="http://schemas.openxmlformats.org/officeDocument/2006/relationships/notesSlide"/><Relationship Id="rId43" Target="notesSlides/notesSlide3.xml" Type="http://schemas.openxmlformats.org/officeDocument/2006/relationships/notesSlide"/><Relationship Id="rId44" Target="notesSlides/notesSlide4.xml" Type="http://schemas.openxmlformats.org/officeDocument/2006/relationships/notesSlide"/><Relationship Id="rId45" Target="notesSlides/notesSlide5.xml" Type="http://schemas.openxmlformats.org/officeDocument/2006/relationships/notesSlide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notesSlides/notesSlide6.xml" Type="http://schemas.openxmlformats.org/officeDocument/2006/relationships/notesSlide"/><Relationship Id="rId51" Target="notesSlides/notesSlide7.xml" Type="http://schemas.openxmlformats.org/officeDocument/2006/relationships/notesSlide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notesSlides/notesSlide8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Note:</a:t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linkedin.com/in/abdallah-hesham223/" TargetMode="External" Type="http://schemas.openxmlformats.org/officeDocument/2006/relationships/hyperlink"/><Relationship Id="rId11" Target="https://www.linkedin.com/in/omar-abdullatif/" TargetMode="External" Type="http://schemas.openxmlformats.org/officeDocument/2006/relationships/hyperlink"/><Relationship Id="rId12" Target="https://www.linkedin.com/in/mohamed-waleed-0a92b7244/" TargetMode="External" Type="http://schemas.openxmlformats.org/officeDocument/2006/relationships/hyperlink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https://menna" TargetMode="External" Type="http://schemas.openxmlformats.org/officeDocument/2006/relationships/hyperlink"/><Relationship Id="rId9" Target="https://www.linkedin.com/in/josam-tawadros-76b449301/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2.jpe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jpeg" Type="http://schemas.openxmlformats.org/officeDocument/2006/relationships/image"/><Relationship Id="rId3" Target="../media/image38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Relationship Id="rId3" Target="../media/VAHZY8KzRds.mp4" Type="http://schemas.openxmlformats.org/officeDocument/2006/relationships/video"/><Relationship Id="rId4" Target="../media/VAHZY8KzRds.mp4" Type="http://schemas.microsoft.com/office/2007/relationships/media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29153" y="247012"/>
            <a:ext cx="1599009" cy="524094"/>
            <a:chOff x="0" y="0"/>
            <a:chExt cx="2132012" cy="698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2076" cy="698754"/>
            </a:xfrm>
            <a:custGeom>
              <a:avLst/>
              <a:gdLst/>
              <a:ahLst/>
              <a:cxnLst/>
              <a:rect r="r" b="b" t="t" l="l"/>
              <a:pathLst>
                <a:path h="698754" w="2132076">
                  <a:moveTo>
                    <a:pt x="0" y="0"/>
                  </a:moveTo>
                  <a:lnTo>
                    <a:pt x="2132076" y="0"/>
                  </a:lnTo>
                  <a:lnTo>
                    <a:pt x="2132076" y="698754"/>
                  </a:lnTo>
                  <a:lnTo>
                    <a:pt x="0" y="698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3" r="2" b="-12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95900" y="403955"/>
            <a:ext cx="1360961" cy="210188"/>
          </a:xfrm>
          <a:custGeom>
            <a:avLst/>
            <a:gdLst/>
            <a:ahLst/>
            <a:cxnLst/>
            <a:rect r="r" b="b" t="t" l="l"/>
            <a:pathLst>
              <a:path h="210188" w="1360961">
                <a:moveTo>
                  <a:pt x="0" y="0"/>
                </a:moveTo>
                <a:lnTo>
                  <a:pt x="1360961" y="0"/>
                </a:lnTo>
                <a:lnTo>
                  <a:pt x="1360961" y="210188"/>
                </a:lnTo>
                <a:lnTo>
                  <a:pt x="0" y="2101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070" r="0" b="-207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98390" y="3429000"/>
            <a:ext cx="3261526" cy="3228911"/>
          </a:xfrm>
          <a:custGeom>
            <a:avLst/>
            <a:gdLst/>
            <a:ahLst/>
            <a:cxnLst/>
            <a:rect r="r" b="b" t="t" l="l"/>
            <a:pathLst>
              <a:path h="3228911" w="3261526">
                <a:moveTo>
                  <a:pt x="0" y="0"/>
                </a:moveTo>
                <a:lnTo>
                  <a:pt x="3261526" y="0"/>
                </a:lnTo>
                <a:lnTo>
                  <a:pt x="3261526" y="3228911"/>
                </a:lnTo>
                <a:lnTo>
                  <a:pt x="0" y="32289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7819" y="2258994"/>
            <a:ext cx="9032262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9"/>
              </a:lnSpc>
            </a:pPr>
            <a:r>
              <a:rPr lang="en-US" sz="46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Few-shot Classification for Fraud Detection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7819" y="3862620"/>
            <a:ext cx="6045003" cy="40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SIC – AI800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9104" y="184328"/>
            <a:ext cx="441431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8002" y="1625270"/>
            <a:ext cx="8803148" cy="391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396" indent="-243799" lvl="2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Team Members</a:t>
            </a:r>
          </a:p>
          <a:p>
            <a:pPr algn="l" marL="731396" indent="-243799" lvl="2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Problem Statement</a:t>
            </a:r>
          </a:p>
          <a:p>
            <a:pPr algn="l" marL="731396" indent="-243799" lvl="2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Targeted audience</a:t>
            </a:r>
          </a:p>
          <a:p>
            <a:pPr algn="l" marL="731396" indent="-243799" lvl="2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Data Insights &amp; Fraud Patterns</a:t>
            </a:r>
          </a:p>
          <a:p>
            <a:pPr algn="l" marL="731396" indent="-243799" lvl="2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Modeling &amp; Evaluation</a:t>
            </a:r>
          </a:p>
          <a:p>
            <a:pPr algn="l" marL="731396" indent="-243799" lvl="2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Deployment</a:t>
            </a:r>
          </a:p>
          <a:p>
            <a:pPr algn="l" marL="731291" indent="-243764" lvl="2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Future Enhancements</a:t>
            </a:r>
          </a:p>
          <a:p>
            <a:pPr algn="l" marL="731396" indent="-243799" lvl="2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Business Value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72291" y="5220179"/>
            <a:ext cx="387858" cy="268776"/>
            <a:chOff x="0" y="0"/>
            <a:chExt cx="517144" cy="3583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7144" cy="358394"/>
            </a:xfrm>
            <a:custGeom>
              <a:avLst/>
              <a:gdLst/>
              <a:ahLst/>
              <a:cxnLst/>
              <a:rect r="r" b="b" t="t" l="l"/>
              <a:pathLst>
                <a:path h="358394" w="517144">
                  <a:moveTo>
                    <a:pt x="0" y="0"/>
                  </a:moveTo>
                  <a:lnTo>
                    <a:pt x="517144" y="0"/>
                  </a:lnTo>
                  <a:lnTo>
                    <a:pt x="517144" y="358394"/>
                  </a:lnTo>
                  <a:lnTo>
                    <a:pt x="0" y="358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150" r="0" b="-2214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101328" y="5220179"/>
            <a:ext cx="387858" cy="268776"/>
            <a:chOff x="0" y="0"/>
            <a:chExt cx="517144" cy="3583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7144" cy="358394"/>
            </a:xfrm>
            <a:custGeom>
              <a:avLst/>
              <a:gdLst/>
              <a:ahLst/>
              <a:cxnLst/>
              <a:rect r="r" b="b" t="t" l="l"/>
              <a:pathLst>
                <a:path h="358394" w="517144">
                  <a:moveTo>
                    <a:pt x="0" y="0"/>
                  </a:moveTo>
                  <a:lnTo>
                    <a:pt x="517144" y="0"/>
                  </a:lnTo>
                  <a:lnTo>
                    <a:pt x="517144" y="358394"/>
                  </a:lnTo>
                  <a:lnTo>
                    <a:pt x="0" y="358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150" r="0" b="-22143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191881" y="1785777"/>
            <a:ext cx="1828510" cy="3250685"/>
          </a:xfrm>
          <a:custGeom>
            <a:avLst/>
            <a:gdLst/>
            <a:ahLst/>
            <a:cxnLst/>
            <a:rect r="r" b="b" t="t" l="l"/>
            <a:pathLst>
              <a:path h="3250685" w="1828510">
                <a:moveTo>
                  <a:pt x="0" y="0"/>
                </a:moveTo>
                <a:lnTo>
                  <a:pt x="1828510" y="0"/>
                </a:lnTo>
                <a:lnTo>
                  <a:pt x="1828510" y="3250684"/>
                </a:lnTo>
                <a:lnTo>
                  <a:pt x="0" y="3250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587" t="-9578" r="-49878" b="-4077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10851" y="1785777"/>
            <a:ext cx="1606029" cy="3250685"/>
          </a:xfrm>
          <a:custGeom>
            <a:avLst/>
            <a:gdLst/>
            <a:ahLst/>
            <a:cxnLst/>
            <a:rect r="r" b="b" t="t" l="l"/>
            <a:pathLst>
              <a:path h="3250685" w="1606029">
                <a:moveTo>
                  <a:pt x="0" y="0"/>
                </a:moveTo>
                <a:lnTo>
                  <a:pt x="1606029" y="0"/>
                </a:lnTo>
                <a:lnTo>
                  <a:pt x="1606029" y="3250684"/>
                </a:lnTo>
                <a:lnTo>
                  <a:pt x="0" y="3250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997855" y="1803658"/>
            <a:ext cx="1828510" cy="3250685"/>
          </a:xfrm>
          <a:custGeom>
            <a:avLst/>
            <a:gdLst/>
            <a:ahLst/>
            <a:cxnLst/>
            <a:rect r="r" b="b" t="t" l="l"/>
            <a:pathLst>
              <a:path h="3250685" w="1828510">
                <a:moveTo>
                  <a:pt x="0" y="0"/>
                </a:moveTo>
                <a:lnTo>
                  <a:pt x="1828510" y="0"/>
                </a:lnTo>
                <a:lnTo>
                  <a:pt x="1828510" y="3250684"/>
                </a:lnTo>
                <a:lnTo>
                  <a:pt x="0" y="3250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8902" t="-25641" r="0" b="-23702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201366" y="1785777"/>
            <a:ext cx="1828510" cy="3250685"/>
          </a:xfrm>
          <a:custGeom>
            <a:avLst/>
            <a:gdLst/>
            <a:ahLst/>
            <a:cxnLst/>
            <a:rect r="r" b="b" t="t" l="l"/>
            <a:pathLst>
              <a:path h="3250685" w="1828510">
                <a:moveTo>
                  <a:pt x="0" y="0"/>
                </a:moveTo>
                <a:lnTo>
                  <a:pt x="1828510" y="0"/>
                </a:lnTo>
                <a:lnTo>
                  <a:pt x="1828510" y="3250684"/>
                </a:lnTo>
                <a:lnTo>
                  <a:pt x="0" y="3250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8888" t="0" r="-38888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40321" y="1785777"/>
            <a:ext cx="1838568" cy="3268566"/>
          </a:xfrm>
          <a:custGeom>
            <a:avLst/>
            <a:gdLst/>
            <a:ahLst/>
            <a:cxnLst/>
            <a:rect r="r" b="b" t="t" l="l"/>
            <a:pathLst>
              <a:path h="3268566" w="1838568">
                <a:moveTo>
                  <a:pt x="0" y="0"/>
                </a:moveTo>
                <a:lnTo>
                  <a:pt x="1838568" y="0"/>
                </a:lnTo>
                <a:lnTo>
                  <a:pt x="1838568" y="3268565"/>
                </a:lnTo>
                <a:lnTo>
                  <a:pt x="0" y="32685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42987" y="108128"/>
            <a:ext cx="441431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Team Members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142105" y="5220179"/>
            <a:ext cx="387858" cy="268776"/>
            <a:chOff x="0" y="0"/>
            <a:chExt cx="517144" cy="3583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7144" cy="358394"/>
            </a:xfrm>
            <a:custGeom>
              <a:avLst/>
              <a:gdLst/>
              <a:ahLst/>
              <a:cxnLst/>
              <a:rect r="r" b="b" t="t" l="l"/>
              <a:pathLst>
                <a:path h="358394" w="517144">
                  <a:moveTo>
                    <a:pt x="0" y="0"/>
                  </a:moveTo>
                  <a:lnTo>
                    <a:pt x="517144" y="0"/>
                  </a:lnTo>
                  <a:lnTo>
                    <a:pt x="517144" y="358394"/>
                  </a:lnTo>
                  <a:lnTo>
                    <a:pt x="0" y="358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150" r="0" b="-22143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840325" y="5220179"/>
            <a:ext cx="387858" cy="268776"/>
            <a:chOff x="0" y="0"/>
            <a:chExt cx="517144" cy="3583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7144" cy="358394"/>
            </a:xfrm>
            <a:custGeom>
              <a:avLst/>
              <a:gdLst/>
              <a:ahLst/>
              <a:cxnLst/>
              <a:rect r="r" b="b" t="t" l="l"/>
              <a:pathLst>
                <a:path h="358394" w="517144">
                  <a:moveTo>
                    <a:pt x="0" y="0"/>
                  </a:moveTo>
                  <a:lnTo>
                    <a:pt x="517144" y="0"/>
                  </a:lnTo>
                  <a:lnTo>
                    <a:pt x="517144" y="358394"/>
                  </a:lnTo>
                  <a:lnTo>
                    <a:pt x="0" y="358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150" r="0" b="-22143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096341" y="5220179"/>
            <a:ext cx="387858" cy="268776"/>
            <a:chOff x="0" y="0"/>
            <a:chExt cx="517144" cy="3583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7144" cy="358394"/>
            </a:xfrm>
            <a:custGeom>
              <a:avLst/>
              <a:gdLst/>
              <a:ahLst/>
              <a:cxnLst/>
              <a:rect r="r" b="b" t="t" l="l"/>
              <a:pathLst>
                <a:path h="358394" w="517144">
                  <a:moveTo>
                    <a:pt x="0" y="0"/>
                  </a:moveTo>
                  <a:lnTo>
                    <a:pt x="517144" y="0"/>
                  </a:lnTo>
                  <a:lnTo>
                    <a:pt x="517144" y="358394"/>
                  </a:lnTo>
                  <a:lnTo>
                    <a:pt x="0" y="358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150" r="0" b="-22143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33170" y="5172554"/>
            <a:ext cx="1252869" cy="41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8" u="sng">
                <a:solidFill>
                  <a:srgbClr val="0255AF"/>
                </a:solidFill>
                <a:latin typeface="Arial MT Pro Bold"/>
                <a:ea typeface="Arial MT Pro Bold"/>
                <a:cs typeface="Arial MT Pro Bold"/>
                <a:sym typeface="Arial MT Pro Bold"/>
                <a:hlinkClick r:id="rId8" tooltip="https://menna"/>
              </a:rPr>
              <a:t>Menna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44885" y="5172554"/>
            <a:ext cx="1252869" cy="41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8" u="sng">
                <a:solidFill>
                  <a:srgbClr val="0255AF"/>
                </a:solidFill>
                <a:latin typeface="Arial MT Pro Bold"/>
                <a:ea typeface="Arial MT Pro Bold"/>
                <a:cs typeface="Arial MT Pro Bold"/>
                <a:sym typeface="Arial MT Pro Bold"/>
                <a:hlinkClick r:id="rId9" tooltip="https://www.linkedin.com/in/josam-tawadros-76b449301/"/>
              </a:rPr>
              <a:t>Josam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489186" y="5172554"/>
            <a:ext cx="1451078" cy="41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8" u="sng">
                <a:solidFill>
                  <a:srgbClr val="0255AF"/>
                </a:solidFill>
                <a:latin typeface="Arial MT Pro Bold"/>
                <a:ea typeface="Arial MT Pro Bold"/>
                <a:cs typeface="Arial MT Pro Bold"/>
                <a:sym typeface="Arial MT Pro Bold"/>
                <a:hlinkClick r:id="rId10" tooltip="https://www.linkedin.com/in/abdallah-hesham223/"/>
              </a:rPr>
              <a:t>Abdullah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87431" y="5172554"/>
            <a:ext cx="1252869" cy="41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8" u="sng">
                <a:solidFill>
                  <a:srgbClr val="0255AF"/>
                </a:solidFill>
                <a:latin typeface="Arial MT Pro Bold"/>
                <a:ea typeface="Arial MT Pro Bold"/>
                <a:cs typeface="Arial MT Pro Bold"/>
                <a:sym typeface="Arial MT Pro Bold"/>
                <a:hlinkClick r:id="rId11" tooltip="https://www.linkedin.com/in/omar-abdullatif/"/>
              </a:rPr>
              <a:t>Omar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28183" y="5172554"/>
            <a:ext cx="1598182" cy="41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8" u="sng">
                <a:solidFill>
                  <a:srgbClr val="0255AF"/>
                </a:solidFill>
                <a:latin typeface="Arial MT Pro Bold"/>
                <a:ea typeface="Arial MT Pro Bold"/>
                <a:cs typeface="Arial MT Pro Bold"/>
                <a:sym typeface="Arial MT Pro Bold"/>
                <a:hlinkClick r:id="rId12" tooltip="https://www.linkedin.com/in/mohamed-waleed-0a92b7244/"/>
              </a:rPr>
              <a:t>Mohamed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501717" y="3371850"/>
            <a:ext cx="34061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04417" y="3293446"/>
            <a:ext cx="962766" cy="972491"/>
          </a:xfrm>
          <a:custGeom>
            <a:avLst/>
            <a:gdLst/>
            <a:ahLst/>
            <a:cxnLst/>
            <a:rect r="r" b="b" t="t" l="l"/>
            <a:pathLst>
              <a:path h="972491" w="962766">
                <a:moveTo>
                  <a:pt x="0" y="0"/>
                </a:moveTo>
                <a:lnTo>
                  <a:pt x="962766" y="0"/>
                </a:lnTo>
                <a:lnTo>
                  <a:pt x="962766" y="972491"/>
                </a:lnTo>
                <a:lnTo>
                  <a:pt x="0" y="9724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4423" y="2983058"/>
            <a:ext cx="5661910" cy="79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  <a:spcBef>
                <a:spcPct val="0"/>
              </a:spcBef>
            </a:pPr>
            <a:r>
              <a:rPr lang="en-US" sz="4783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Problem Statement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10949" y="1495531"/>
            <a:ext cx="9265052" cy="259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7"/>
              </a:lnSpc>
              <a:spcBef>
                <a:spcPct val="0"/>
              </a:spcBef>
            </a:pPr>
            <a:r>
              <a:rPr lang="en-US" sz="2431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Credit card fraud accounts for </a:t>
            </a:r>
            <a:r>
              <a:rPr lang="en-US" b="true" sz="2431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less than 1%</a:t>
            </a:r>
            <a:r>
              <a:rPr lang="en-US" sz="2431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 of transactions and constantly evolves, making </a:t>
            </a:r>
            <a:r>
              <a:rPr lang="en-US" b="true" sz="2431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traditional classifiers less effective</a:t>
            </a:r>
            <a:r>
              <a:rPr lang="en-US" sz="2431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 at detecting emerging fraud patterns. This project aims to develop and evaluate an </a:t>
            </a:r>
            <a:r>
              <a:rPr lang="en-US" b="true" sz="2431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anomaly-detection model</a:t>
            </a:r>
            <a:r>
              <a:rPr lang="en-US" sz="2431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 that learns normal transaction behavior to identify suspicious deviations in highly imbalanced data, maximizing fraud detection while minimizing false positives.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758437" y="3918418"/>
            <a:ext cx="2158027" cy="2295773"/>
          </a:xfrm>
          <a:custGeom>
            <a:avLst/>
            <a:gdLst/>
            <a:ahLst/>
            <a:cxnLst/>
            <a:rect r="r" b="b" t="t" l="l"/>
            <a:pathLst>
              <a:path h="2295773" w="2158027">
                <a:moveTo>
                  <a:pt x="0" y="0"/>
                </a:moveTo>
                <a:lnTo>
                  <a:pt x="2158027" y="0"/>
                </a:lnTo>
                <a:lnTo>
                  <a:pt x="2158027" y="2295773"/>
                </a:lnTo>
                <a:lnTo>
                  <a:pt x="0" y="2295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292" y="239858"/>
            <a:ext cx="5661910" cy="809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0"/>
              </a:lnSpc>
              <a:spcBef>
                <a:spcPct val="0"/>
              </a:spcBef>
            </a:pPr>
            <a:r>
              <a:rPr lang="en-US" sz="4683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Problem Statement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501717" y="3371850"/>
            <a:ext cx="34061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3" id="3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3078" y="2981325"/>
            <a:ext cx="70086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Targeted audience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98809">
            <a:off x="204417" y="3293446"/>
            <a:ext cx="962766" cy="972491"/>
          </a:xfrm>
          <a:custGeom>
            <a:avLst/>
            <a:gdLst/>
            <a:ahLst/>
            <a:cxnLst/>
            <a:rect r="r" b="b" t="t" l="l"/>
            <a:pathLst>
              <a:path h="972491" w="962766">
                <a:moveTo>
                  <a:pt x="0" y="0"/>
                </a:moveTo>
                <a:lnTo>
                  <a:pt x="962766" y="0"/>
                </a:lnTo>
                <a:lnTo>
                  <a:pt x="962766" y="972491"/>
                </a:lnTo>
                <a:lnTo>
                  <a:pt x="0" y="9724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33284" y="1632066"/>
            <a:ext cx="3505448" cy="3993917"/>
            <a:chOff x="0" y="0"/>
            <a:chExt cx="8021990" cy="91398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22029" cy="9139858"/>
            </a:xfrm>
            <a:custGeom>
              <a:avLst/>
              <a:gdLst/>
              <a:ahLst/>
              <a:cxnLst/>
              <a:rect r="r" b="b" t="t" l="l"/>
              <a:pathLst>
                <a:path h="9139858" w="8022029">
                  <a:moveTo>
                    <a:pt x="0" y="0"/>
                  </a:moveTo>
                  <a:lnTo>
                    <a:pt x="8022029" y="0"/>
                  </a:lnTo>
                  <a:lnTo>
                    <a:pt x="8022029" y="9139858"/>
                  </a:lnTo>
                  <a:lnTo>
                    <a:pt x="0" y="91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8206" r="0" b="-28206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028970" y="1817722"/>
            <a:ext cx="2848383" cy="2848383"/>
          </a:xfrm>
          <a:custGeom>
            <a:avLst/>
            <a:gdLst/>
            <a:ahLst/>
            <a:cxnLst/>
            <a:rect r="r" b="b" t="t" l="l"/>
            <a:pathLst>
              <a:path h="2848383" w="2848383">
                <a:moveTo>
                  <a:pt x="0" y="0"/>
                </a:moveTo>
                <a:lnTo>
                  <a:pt x="2848383" y="0"/>
                </a:lnTo>
                <a:lnTo>
                  <a:pt x="2848383" y="2848383"/>
                </a:lnTo>
                <a:lnTo>
                  <a:pt x="0" y="2848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9104" y="184328"/>
            <a:ext cx="673039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Targeted audience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AutoShape 3" id="3"/>
          <p:cNvSpPr/>
          <p:nvPr/>
        </p:nvSpPr>
        <p:spPr>
          <a:xfrm>
            <a:off x="-2501717" y="3371850"/>
            <a:ext cx="34061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4" id="4"/>
          <p:cNvSpPr txBox="true"/>
          <p:nvPr/>
        </p:nvSpPr>
        <p:spPr>
          <a:xfrm rot="0">
            <a:off x="1114392" y="3006101"/>
            <a:ext cx="7639116" cy="67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80"/>
              </a:lnSpc>
              <a:spcBef>
                <a:spcPct val="0"/>
              </a:spcBef>
            </a:pPr>
            <a:r>
              <a:rPr lang="en-US" sz="44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Data Insights &amp; Fraud Patterns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04417" y="3293446"/>
            <a:ext cx="962766" cy="972491"/>
          </a:xfrm>
          <a:custGeom>
            <a:avLst/>
            <a:gdLst/>
            <a:ahLst/>
            <a:cxnLst/>
            <a:rect r="r" b="b" t="t" l="l"/>
            <a:pathLst>
              <a:path h="972491" w="962766">
                <a:moveTo>
                  <a:pt x="0" y="0"/>
                </a:moveTo>
                <a:lnTo>
                  <a:pt x="962766" y="0"/>
                </a:lnTo>
                <a:lnTo>
                  <a:pt x="962766" y="972491"/>
                </a:lnTo>
                <a:lnTo>
                  <a:pt x="0" y="9724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3523" y="279588"/>
            <a:ext cx="3379391" cy="7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About Dataset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523" y="1501037"/>
            <a:ext cx="9325302" cy="80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698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Key Insight: The dataset tracks 983 unique cards over an extended timeline (1,300 transactions per card), establishing a deep behavioral history for each customer</a:t>
            </a:r>
          </a:p>
          <a:p>
            <a:pPr algn="l">
              <a:lnSpc>
                <a:spcPts val="203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67832" y="2817747"/>
            <a:ext cx="1635235" cy="25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7"/>
              </a:lnSpc>
              <a:spcBef>
                <a:spcPct val="0"/>
              </a:spcBef>
            </a:pPr>
            <a:r>
              <a:rPr lang="en-US" sz="1564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Transaction Period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31591" y="2817747"/>
            <a:ext cx="1590300" cy="25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7"/>
              </a:lnSpc>
              <a:spcBef>
                <a:spcPct val="0"/>
              </a:spcBef>
            </a:pPr>
            <a:r>
              <a:rPr lang="en-US" sz="1564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Total Transactions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16787" y="2817747"/>
            <a:ext cx="1312246" cy="25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7"/>
              </a:lnSpc>
              <a:spcBef>
                <a:spcPct val="0"/>
              </a:spcBef>
            </a:pPr>
            <a:r>
              <a:rPr lang="en-US" sz="1564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37133" y="3272157"/>
            <a:ext cx="1960166" cy="933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sz="54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1.8M+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53198" y="4297141"/>
            <a:ext cx="2075805" cy="9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  <a:spcBef>
                <a:spcPct val="0"/>
              </a:spcBef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A massive scale of 1.85+ million transactions, exhibiting extreme class imbalance with less than 1% fraudulent cases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8914" y="3272157"/>
            <a:ext cx="1553071" cy="933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99"/>
              </a:lnSpc>
              <a:spcBef>
                <a:spcPct val="0"/>
              </a:spcBef>
            </a:pPr>
            <a:r>
              <a:rPr lang="en-US" sz="5498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2019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7832" y="4297141"/>
            <a:ext cx="2186792" cy="9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58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Spans a continuous 24-month period, accurately simulating real-world seasonal shifts and long-term customer spending patterns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56390" y="3229298"/>
            <a:ext cx="833041" cy="100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79"/>
              </a:lnSpc>
              <a:spcBef>
                <a:spcPct val="0"/>
              </a:spcBef>
            </a:pPr>
            <a:r>
              <a:rPr lang="en-US" sz="5898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23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20612" y="4210261"/>
            <a:ext cx="2080538" cy="11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58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Consists of categorical and numerical variables detailing transaction characteristics, temporal attributes, and merchant profiles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6149617" y="3172183"/>
            <a:ext cx="3937462" cy="2165604"/>
          </a:xfrm>
          <a:custGeom>
            <a:avLst/>
            <a:gdLst/>
            <a:ahLst/>
            <a:cxnLst/>
            <a:rect r="r" b="b" t="t" l="l"/>
            <a:pathLst>
              <a:path h="2165604" w="3937462">
                <a:moveTo>
                  <a:pt x="0" y="0"/>
                </a:moveTo>
                <a:lnTo>
                  <a:pt x="3937462" y="0"/>
                </a:lnTo>
                <a:lnTo>
                  <a:pt x="3937462" y="2165604"/>
                </a:lnTo>
                <a:lnTo>
                  <a:pt x="0" y="2165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29140" y="6041872"/>
            <a:ext cx="2084037" cy="172319"/>
            <a:chOff x="0" y="0"/>
            <a:chExt cx="823323" cy="680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3323" cy="68077"/>
            </a:xfrm>
            <a:custGeom>
              <a:avLst/>
              <a:gdLst/>
              <a:ahLst/>
              <a:cxnLst/>
              <a:rect r="r" b="b" t="t" l="l"/>
              <a:pathLst>
                <a:path h="68077" w="823323">
                  <a:moveTo>
                    <a:pt x="0" y="0"/>
                  </a:moveTo>
                  <a:lnTo>
                    <a:pt x="823323" y="0"/>
                  </a:lnTo>
                  <a:lnTo>
                    <a:pt x="823323" y="68077"/>
                  </a:lnTo>
                  <a:lnTo>
                    <a:pt x="0" y="68077"/>
                  </a:lnTo>
                  <a:close/>
                </a:path>
              </a:pathLst>
            </a:custGeom>
            <a:solidFill>
              <a:srgbClr val="E8886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823323" cy="96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8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9190" y="231947"/>
            <a:ext cx="3112195" cy="7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4199" strike="noStrike" u="none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Data Insights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9190" y="1496412"/>
            <a:ext cx="4139360" cy="1288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1"/>
              </a:lnSpc>
              <a:spcBef>
                <a:spcPct val="0"/>
              </a:spcBef>
            </a:pPr>
            <a:r>
              <a:rPr lang="en-US" sz="403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Imbalanced Dataset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9190" y="2952764"/>
            <a:ext cx="5922042" cy="923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9"/>
              </a:lnSpc>
              <a:spcBef>
                <a:spcPct val="0"/>
              </a:spcBef>
            </a:pPr>
            <a:r>
              <a:rPr lang="en-US" sz="1532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The dataset comprises over </a:t>
            </a:r>
            <a:r>
              <a:rPr lang="en-US" b="true" sz="1532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1.8 million</a:t>
            </a:r>
            <a:r>
              <a:rPr lang="en-US" sz="1532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 credit card transactions. Within this dataset, fraudulent transactions constitute </a:t>
            </a:r>
            <a:r>
              <a:rPr lang="en-US" b="true" sz="1532">
                <a:solidFill>
                  <a:srgbClr val="7F7F7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less than 1% (0.58%) </a:t>
            </a:r>
            <a:r>
              <a:rPr lang="en-US" sz="1532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of the total volume, indicating an extreme class imbalance.</a:t>
            </a:r>
          </a:p>
          <a:p>
            <a:pPr algn="l">
              <a:lnSpc>
                <a:spcPts val="171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016496" y="1350176"/>
            <a:ext cx="959247" cy="333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7"/>
              </a:lnSpc>
              <a:spcBef>
                <a:spcPct val="0"/>
              </a:spcBef>
            </a:pPr>
            <a:r>
              <a:rPr lang="en-US" sz="1998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Genuine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78396" y="1635888"/>
            <a:ext cx="2071948" cy="614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1"/>
              </a:lnSpc>
              <a:spcBef>
                <a:spcPct val="0"/>
              </a:spcBef>
            </a:pPr>
            <a:r>
              <a:rPr lang="en-US" sz="3667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1,289,169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29140" y="4991469"/>
            <a:ext cx="646113" cy="333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7"/>
              </a:lnSpc>
              <a:spcBef>
                <a:spcPct val="0"/>
              </a:spcBef>
            </a:pPr>
            <a:r>
              <a:rPr lang="en-US" sz="1998" strike="noStrike" u="none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Fraud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29140" y="5309989"/>
            <a:ext cx="1165425" cy="63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01"/>
              </a:lnSpc>
              <a:spcBef>
                <a:spcPct val="0"/>
              </a:spcBef>
            </a:pPr>
            <a:r>
              <a:rPr lang="en-US" sz="3667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7,506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0" y="1653964"/>
            <a:ext cx="6189935" cy="4089278"/>
          </a:xfrm>
          <a:custGeom>
            <a:avLst/>
            <a:gdLst/>
            <a:ahLst/>
            <a:cxnLst/>
            <a:rect r="r" b="b" t="t" l="l"/>
            <a:pathLst>
              <a:path h="4089278" w="6189935">
                <a:moveTo>
                  <a:pt x="0" y="0"/>
                </a:moveTo>
                <a:lnTo>
                  <a:pt x="6189935" y="0"/>
                </a:lnTo>
                <a:lnTo>
                  <a:pt x="6189935" y="4089278"/>
                </a:lnTo>
                <a:lnTo>
                  <a:pt x="0" y="4089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9190" y="231947"/>
            <a:ext cx="6046391" cy="7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Exploring Fraud Patterns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395581" y="1513253"/>
            <a:ext cx="3143927" cy="1264326"/>
            <a:chOff x="0" y="0"/>
            <a:chExt cx="4191902" cy="168576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4191902" cy="1685769"/>
              <a:chOff x="0" y="0"/>
              <a:chExt cx="1242045" cy="49948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42045" cy="499487"/>
              </a:xfrm>
              <a:custGeom>
                <a:avLst/>
                <a:gdLst/>
                <a:ahLst/>
                <a:cxnLst/>
                <a:rect r="r" b="b" t="t" l="l"/>
                <a:pathLst>
                  <a:path h="499487" w="1242045">
                    <a:moveTo>
                      <a:pt x="71413" y="0"/>
                    </a:moveTo>
                    <a:lnTo>
                      <a:pt x="1170633" y="0"/>
                    </a:lnTo>
                    <a:cubicBezTo>
                      <a:pt x="1189572" y="0"/>
                      <a:pt x="1207736" y="7524"/>
                      <a:pt x="1221129" y="20916"/>
                    </a:cubicBezTo>
                    <a:cubicBezTo>
                      <a:pt x="1234521" y="34309"/>
                      <a:pt x="1242045" y="52473"/>
                      <a:pt x="1242045" y="71413"/>
                    </a:cubicBezTo>
                    <a:lnTo>
                      <a:pt x="1242045" y="428074"/>
                    </a:lnTo>
                    <a:cubicBezTo>
                      <a:pt x="1242045" y="447014"/>
                      <a:pt x="1234521" y="465178"/>
                      <a:pt x="1221129" y="478571"/>
                    </a:cubicBezTo>
                    <a:cubicBezTo>
                      <a:pt x="1207736" y="491963"/>
                      <a:pt x="1189572" y="499487"/>
                      <a:pt x="1170633" y="499487"/>
                    </a:cubicBezTo>
                    <a:lnTo>
                      <a:pt x="71413" y="499487"/>
                    </a:lnTo>
                    <a:cubicBezTo>
                      <a:pt x="52473" y="499487"/>
                      <a:pt x="34309" y="491963"/>
                      <a:pt x="20916" y="478571"/>
                    </a:cubicBezTo>
                    <a:cubicBezTo>
                      <a:pt x="7524" y="465178"/>
                      <a:pt x="0" y="447014"/>
                      <a:pt x="0" y="428074"/>
                    </a:cubicBezTo>
                    <a:lnTo>
                      <a:pt x="0" y="71413"/>
                    </a:lnTo>
                    <a:cubicBezTo>
                      <a:pt x="0" y="52473"/>
                      <a:pt x="7524" y="34309"/>
                      <a:pt x="20916" y="20916"/>
                    </a:cubicBezTo>
                    <a:cubicBezTo>
                      <a:pt x="34309" y="7524"/>
                      <a:pt x="52473" y="0"/>
                      <a:pt x="71413" y="0"/>
                    </a:cubicBezTo>
                    <a:close/>
                  </a:path>
                </a:pathLst>
              </a:custGeom>
              <a:solidFill>
                <a:srgbClr val="5777E3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1242045" cy="5566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  <a:r>
                  <a:rPr lang="en-US" sz="2598">
                    <a:solidFill>
                      <a:srgbClr val="000000"/>
                    </a:solidFill>
                    <a:latin typeface="Arial MT Pro"/>
                    <a:ea typeface="Arial MT Pro"/>
                    <a:cs typeface="Arial MT Pro"/>
                    <a:sym typeface="Arial MT Pro"/>
                  </a:rPr>
                  <a:t> 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149514"/>
              <a:ext cx="4191902" cy="4190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79"/>
                </a:lnSpc>
                <a:spcBef>
                  <a:spcPct val="0"/>
                </a:spcBef>
              </a:pPr>
              <a:r>
                <a:rPr lang="en-US" b="true" sz="1898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Subtype 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63672" y="603491"/>
              <a:ext cx="3740758" cy="8667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398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Represents recurring, high-frequency fraud tactics that follow </a:t>
              </a:r>
              <a:r>
                <a:rPr lang="en-US" b="true" sz="1398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predictable patterns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95581" y="2945704"/>
            <a:ext cx="3143927" cy="1264326"/>
            <a:chOff x="0" y="0"/>
            <a:chExt cx="4191902" cy="1685769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4191902" cy="1685769"/>
              <a:chOff x="0" y="0"/>
              <a:chExt cx="1242045" cy="49948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242045" cy="499487"/>
              </a:xfrm>
              <a:custGeom>
                <a:avLst/>
                <a:gdLst/>
                <a:ahLst/>
                <a:cxnLst/>
                <a:rect r="r" b="b" t="t" l="l"/>
                <a:pathLst>
                  <a:path h="499487" w="1242045">
                    <a:moveTo>
                      <a:pt x="71413" y="0"/>
                    </a:moveTo>
                    <a:lnTo>
                      <a:pt x="1170633" y="0"/>
                    </a:lnTo>
                    <a:cubicBezTo>
                      <a:pt x="1189572" y="0"/>
                      <a:pt x="1207736" y="7524"/>
                      <a:pt x="1221129" y="20916"/>
                    </a:cubicBezTo>
                    <a:cubicBezTo>
                      <a:pt x="1234521" y="34309"/>
                      <a:pt x="1242045" y="52473"/>
                      <a:pt x="1242045" y="71413"/>
                    </a:cubicBezTo>
                    <a:lnTo>
                      <a:pt x="1242045" y="428074"/>
                    </a:lnTo>
                    <a:cubicBezTo>
                      <a:pt x="1242045" y="447014"/>
                      <a:pt x="1234521" y="465178"/>
                      <a:pt x="1221129" y="478571"/>
                    </a:cubicBezTo>
                    <a:cubicBezTo>
                      <a:pt x="1207736" y="491963"/>
                      <a:pt x="1189572" y="499487"/>
                      <a:pt x="1170633" y="499487"/>
                    </a:cubicBezTo>
                    <a:lnTo>
                      <a:pt x="71413" y="499487"/>
                    </a:lnTo>
                    <a:cubicBezTo>
                      <a:pt x="52473" y="499487"/>
                      <a:pt x="34309" y="491963"/>
                      <a:pt x="20916" y="478571"/>
                    </a:cubicBezTo>
                    <a:cubicBezTo>
                      <a:pt x="7524" y="465178"/>
                      <a:pt x="0" y="447014"/>
                      <a:pt x="0" y="428074"/>
                    </a:cubicBezTo>
                    <a:lnTo>
                      <a:pt x="0" y="71413"/>
                    </a:lnTo>
                    <a:cubicBezTo>
                      <a:pt x="0" y="52473"/>
                      <a:pt x="7524" y="34309"/>
                      <a:pt x="20916" y="20916"/>
                    </a:cubicBezTo>
                    <a:cubicBezTo>
                      <a:pt x="34309" y="7524"/>
                      <a:pt x="52473" y="0"/>
                      <a:pt x="71413" y="0"/>
                    </a:cubicBezTo>
                    <a:close/>
                  </a:path>
                </a:pathLst>
              </a:custGeom>
              <a:solidFill>
                <a:srgbClr val="89EAE0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1242045" cy="5280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55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39276"/>
              <a:ext cx="4191902" cy="4190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79"/>
                </a:lnSpc>
                <a:spcBef>
                  <a:spcPct val="0"/>
                </a:spcBef>
              </a:pPr>
              <a:r>
                <a:rPr lang="en-US" b="true" sz="1898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Subtype 2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621724"/>
              <a:ext cx="4191902" cy="8667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398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Captures </a:t>
              </a:r>
              <a:r>
                <a:rPr lang="en-US" b="true" sz="1398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rare, non-traditional</a:t>
              </a:r>
              <a:r>
                <a:rPr lang="en-US" sz="1398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 fraud strategies successfully isolated by anomaly detection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31177" y="4381480"/>
            <a:ext cx="3160706" cy="1264326"/>
            <a:chOff x="0" y="0"/>
            <a:chExt cx="4214274" cy="1685769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22372" y="0"/>
              <a:ext cx="4191902" cy="1685769"/>
              <a:chOff x="0" y="0"/>
              <a:chExt cx="1242045" cy="49948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42045" cy="499487"/>
              </a:xfrm>
              <a:custGeom>
                <a:avLst/>
                <a:gdLst/>
                <a:ahLst/>
                <a:cxnLst/>
                <a:rect r="r" b="b" t="t" l="l"/>
                <a:pathLst>
                  <a:path h="499487" w="1242045">
                    <a:moveTo>
                      <a:pt x="71413" y="0"/>
                    </a:moveTo>
                    <a:lnTo>
                      <a:pt x="1170633" y="0"/>
                    </a:lnTo>
                    <a:cubicBezTo>
                      <a:pt x="1189572" y="0"/>
                      <a:pt x="1207736" y="7524"/>
                      <a:pt x="1221129" y="20916"/>
                    </a:cubicBezTo>
                    <a:cubicBezTo>
                      <a:pt x="1234521" y="34309"/>
                      <a:pt x="1242045" y="52473"/>
                      <a:pt x="1242045" y="71413"/>
                    </a:cubicBezTo>
                    <a:lnTo>
                      <a:pt x="1242045" y="428074"/>
                    </a:lnTo>
                    <a:cubicBezTo>
                      <a:pt x="1242045" y="447014"/>
                      <a:pt x="1234521" y="465178"/>
                      <a:pt x="1221129" y="478571"/>
                    </a:cubicBezTo>
                    <a:cubicBezTo>
                      <a:pt x="1207736" y="491963"/>
                      <a:pt x="1189572" y="499487"/>
                      <a:pt x="1170633" y="499487"/>
                    </a:cubicBezTo>
                    <a:lnTo>
                      <a:pt x="71413" y="499487"/>
                    </a:lnTo>
                    <a:cubicBezTo>
                      <a:pt x="52473" y="499487"/>
                      <a:pt x="34309" y="491963"/>
                      <a:pt x="20916" y="478571"/>
                    </a:cubicBezTo>
                    <a:cubicBezTo>
                      <a:pt x="7524" y="465178"/>
                      <a:pt x="0" y="447014"/>
                      <a:pt x="0" y="428074"/>
                    </a:cubicBezTo>
                    <a:lnTo>
                      <a:pt x="0" y="71413"/>
                    </a:lnTo>
                    <a:cubicBezTo>
                      <a:pt x="0" y="52473"/>
                      <a:pt x="7524" y="34309"/>
                      <a:pt x="20916" y="20916"/>
                    </a:cubicBezTo>
                    <a:cubicBezTo>
                      <a:pt x="34309" y="7524"/>
                      <a:pt x="52473" y="0"/>
                      <a:pt x="71413" y="0"/>
                    </a:cubicBezTo>
                    <a:close/>
                  </a:path>
                </a:pathLst>
              </a:custGeom>
              <a:solidFill>
                <a:srgbClr val="FF8A5E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1242045" cy="5280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55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121763"/>
              <a:ext cx="4191902" cy="4190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79"/>
                </a:lnSpc>
                <a:spcBef>
                  <a:spcPct val="0"/>
                </a:spcBef>
              </a:pPr>
              <a:r>
                <a:rPr lang="en-US" b="true" sz="1898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Subtype 0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78469" y="575739"/>
              <a:ext cx="3587858" cy="8667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r>
                <a:rPr lang="en-US" sz="1398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Exhibits </a:t>
              </a:r>
              <a:r>
                <a:rPr lang="en-US" b="true" sz="1398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distinct behavioral characteristics</a:t>
              </a:r>
              <a:r>
                <a:rPr lang="en-US" sz="1398">
                  <a:solidFill>
                    <a:srgbClr val="000000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 and alternative execution methods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05102" y="1439774"/>
            <a:ext cx="2948247" cy="4344289"/>
            <a:chOff x="0" y="0"/>
            <a:chExt cx="1164739" cy="1716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64739" cy="1716262"/>
            </a:xfrm>
            <a:custGeom>
              <a:avLst/>
              <a:gdLst/>
              <a:ahLst/>
              <a:cxnLst/>
              <a:rect r="r" b="b" t="t" l="l"/>
              <a:pathLst>
                <a:path h="1716262" w="1164739">
                  <a:moveTo>
                    <a:pt x="76152" y="0"/>
                  </a:moveTo>
                  <a:lnTo>
                    <a:pt x="1088587" y="0"/>
                  </a:lnTo>
                  <a:cubicBezTo>
                    <a:pt x="1130645" y="0"/>
                    <a:pt x="1164739" y="34095"/>
                    <a:pt x="1164739" y="76152"/>
                  </a:cubicBezTo>
                  <a:lnTo>
                    <a:pt x="1164739" y="1640110"/>
                  </a:lnTo>
                  <a:cubicBezTo>
                    <a:pt x="1164739" y="1682168"/>
                    <a:pt x="1130645" y="1716262"/>
                    <a:pt x="1088587" y="1716262"/>
                  </a:cubicBezTo>
                  <a:lnTo>
                    <a:pt x="76152" y="1716262"/>
                  </a:lnTo>
                  <a:cubicBezTo>
                    <a:pt x="34095" y="1716262"/>
                    <a:pt x="0" y="1682168"/>
                    <a:pt x="0" y="1640110"/>
                  </a:cubicBezTo>
                  <a:lnTo>
                    <a:pt x="0" y="76152"/>
                  </a:lnTo>
                  <a:cubicBezTo>
                    <a:pt x="0" y="34095"/>
                    <a:pt x="34095" y="0"/>
                    <a:pt x="76152" y="0"/>
                  </a:cubicBezTo>
                  <a:close/>
                </a:path>
              </a:pathLst>
            </a:custGeom>
            <a:solidFill>
              <a:srgbClr val="89EA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64739" cy="1744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5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336154" y="1390869"/>
            <a:ext cx="6368352" cy="4526457"/>
          </a:xfrm>
          <a:custGeom>
            <a:avLst/>
            <a:gdLst/>
            <a:ahLst/>
            <a:cxnLst/>
            <a:rect r="r" b="b" t="t" l="l"/>
            <a:pathLst>
              <a:path h="4526457" w="6368352">
                <a:moveTo>
                  <a:pt x="0" y="0"/>
                </a:moveTo>
                <a:lnTo>
                  <a:pt x="6368352" y="0"/>
                </a:lnTo>
                <a:lnTo>
                  <a:pt x="6368352" y="4526457"/>
                </a:lnTo>
                <a:lnTo>
                  <a:pt x="0" y="4526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0357" y="281001"/>
            <a:ext cx="6015930" cy="7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4199" strike="noStrike" u="none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Fraud Transactions Differ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6580" y="2018978"/>
            <a:ext cx="2665292" cy="3457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8"/>
              </a:lnSpc>
              <a:spcBef>
                <a:spcPct val="0"/>
              </a:spcBef>
            </a:pPr>
            <a:r>
              <a:rPr lang="en-US" sz="1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Cluster 0 targets </a:t>
            </a:r>
            <a:r>
              <a:rPr lang="en-US" b="true" sz="1299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high-magnitude financial transactions,</a:t>
            </a:r>
            <a:r>
              <a:rPr lang="en-US" sz="1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whereas Cluster 1 specializes in</a:t>
            </a:r>
            <a:r>
              <a:rPr lang="en-US" b="true" sz="1299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low-to-medium dispersed transactions</a:t>
            </a:r>
          </a:p>
          <a:p>
            <a:pPr algn="ctr">
              <a:lnSpc>
                <a:spcPts val="1558"/>
              </a:lnSpc>
              <a:spcBef>
                <a:spcPct val="0"/>
              </a:spcBef>
            </a:pPr>
          </a:p>
          <a:p>
            <a:pPr algn="ctr">
              <a:lnSpc>
                <a:spcPts val="1558"/>
              </a:lnSpc>
              <a:spcBef>
                <a:spcPct val="0"/>
              </a:spcBef>
            </a:pPr>
            <a:r>
              <a:rPr lang="en-US" sz="1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Cluster 0 operations exclusively cluster </a:t>
            </a:r>
            <a:r>
              <a:rPr lang="en-US" b="true" sz="1299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around midnight</a:t>
            </a:r>
            <a:r>
              <a:rPr lang="en-US" sz="1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, demonstrating a distinct nocturnal behavioral pattern</a:t>
            </a:r>
          </a:p>
          <a:p>
            <a:pPr algn="ctr">
              <a:lnSpc>
                <a:spcPts val="1558"/>
              </a:lnSpc>
              <a:spcBef>
                <a:spcPct val="0"/>
              </a:spcBef>
            </a:pPr>
          </a:p>
          <a:p>
            <a:pPr algn="ctr">
              <a:lnSpc>
                <a:spcPts val="1558"/>
              </a:lnSpc>
              <a:spcBef>
                <a:spcPct val="0"/>
              </a:spcBef>
            </a:pPr>
            <a:r>
              <a:rPr lang="en-US" sz="1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Cluster 2 concentrates strictly within </a:t>
            </a:r>
            <a:r>
              <a:rPr lang="en-US" b="true" sz="1299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high-density metropolitan areas</a:t>
            </a:r>
            <a:r>
              <a:rPr lang="en-US" sz="1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exceeding one million inhabitants</a:t>
            </a:r>
          </a:p>
          <a:p>
            <a:pPr algn="ctr">
              <a:lnSpc>
                <a:spcPts val="1558"/>
              </a:lnSpc>
              <a:spcBef>
                <a:spcPct val="0"/>
              </a:spcBef>
            </a:pPr>
          </a:p>
          <a:p>
            <a:pPr algn="ctr">
              <a:lnSpc>
                <a:spcPts val="1558"/>
              </a:lnSpc>
              <a:spcBef>
                <a:spcPct val="0"/>
              </a:spcBef>
            </a:pPr>
            <a:r>
              <a:rPr lang="en-US" sz="1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Fraud vectors remain persistent annually, executing sophisticated behavioral alignment to bypass automated threshold detection.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0239" y="1526957"/>
            <a:ext cx="1698923" cy="41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Key Insight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88273" y="2371555"/>
            <a:ext cx="6329417" cy="3800645"/>
          </a:xfrm>
          <a:custGeom>
            <a:avLst/>
            <a:gdLst/>
            <a:ahLst/>
            <a:cxnLst/>
            <a:rect r="r" b="b" t="t" l="l"/>
            <a:pathLst>
              <a:path h="3800645" w="6329417">
                <a:moveTo>
                  <a:pt x="0" y="0"/>
                </a:moveTo>
                <a:lnTo>
                  <a:pt x="6329417" y="0"/>
                </a:lnTo>
                <a:lnTo>
                  <a:pt x="6329417" y="3800645"/>
                </a:lnTo>
                <a:lnTo>
                  <a:pt x="0" y="38006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72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8466" y="179588"/>
            <a:ext cx="3821212" cy="75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8"/>
              </a:lnSpc>
              <a:spcBef>
                <a:spcPct val="0"/>
              </a:spcBef>
            </a:pPr>
            <a:r>
              <a:rPr lang="en-US" sz="439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Business Value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9028" y="1681740"/>
            <a:ext cx="8395943" cy="523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87"/>
              </a:lnSpc>
              <a:spcBef>
                <a:spcPct val="0"/>
              </a:spcBef>
            </a:pPr>
            <a:r>
              <a:rPr lang="en-US" sz="1655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Online shopping  represents the highest vulnerability point, directing our focus to maximize recall in this high-risk zone to prevent severe financial losses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9028" y="1234115"/>
            <a:ext cx="4433888" cy="438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7"/>
              </a:lnSpc>
              <a:spcBef>
                <a:spcPct val="0"/>
              </a:spcBef>
            </a:pPr>
            <a:r>
              <a:rPr lang="en-US" sz="2522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Where Are We Losing the Most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5928" y="2724150"/>
            <a:ext cx="611981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Modeling and Evaluation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9190" y="231947"/>
            <a:ext cx="3408045" cy="7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Preprocessing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3315" y="1577891"/>
            <a:ext cx="9668925" cy="3873980"/>
            <a:chOff x="0" y="0"/>
            <a:chExt cx="12891899" cy="516530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369167" y="250058"/>
              <a:ext cx="5713542" cy="4439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9"/>
                </a:lnSpc>
              </a:pPr>
              <a:r>
                <a:rPr lang="en-US" sz="2091" b="true">
                  <a:solidFill>
                    <a:srgbClr val="193EB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Preprocessing Pipeline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7096443" y="200285"/>
              <a:ext cx="5118014" cy="405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5"/>
                </a:lnSpc>
              </a:pPr>
              <a:r>
                <a:rPr lang="en-US" sz="1996" b="true">
                  <a:solidFill>
                    <a:srgbClr val="193EB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Main Dataset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0" y="0"/>
              <a:ext cx="6451742" cy="5165307"/>
              <a:chOff x="0" y="0"/>
              <a:chExt cx="6796824" cy="544158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796786" cy="5441569"/>
              </a:xfrm>
              <a:custGeom>
                <a:avLst/>
                <a:gdLst/>
                <a:ahLst/>
                <a:cxnLst/>
                <a:rect r="r" b="b" t="t" l="l"/>
                <a:pathLst>
                  <a:path h="5441569" w="6796786">
                    <a:moveTo>
                      <a:pt x="0" y="163195"/>
                    </a:moveTo>
                    <a:cubicBezTo>
                      <a:pt x="0" y="73025"/>
                      <a:pt x="73025" y="0"/>
                      <a:pt x="163195" y="0"/>
                    </a:cubicBezTo>
                    <a:lnTo>
                      <a:pt x="6633591" y="0"/>
                    </a:lnTo>
                    <a:cubicBezTo>
                      <a:pt x="6723761" y="0"/>
                      <a:pt x="6796786" y="73025"/>
                      <a:pt x="6796786" y="163195"/>
                    </a:cubicBezTo>
                    <a:lnTo>
                      <a:pt x="6796786" y="5278374"/>
                    </a:lnTo>
                    <a:cubicBezTo>
                      <a:pt x="6796786" y="5368544"/>
                      <a:pt x="6723761" y="5441569"/>
                      <a:pt x="6633591" y="5441569"/>
                    </a:cubicBezTo>
                    <a:lnTo>
                      <a:pt x="163195" y="5441569"/>
                    </a:lnTo>
                    <a:cubicBezTo>
                      <a:pt x="73025" y="5441569"/>
                      <a:pt x="0" y="5368544"/>
                      <a:pt x="0" y="5278374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52720" t="0" r="-52721" b="0"/>
                </a:stretch>
              </a:blipFill>
              <a:ln w="9525" cap="sq">
                <a:solidFill>
                  <a:srgbClr val="BFBFBF"/>
                </a:solidFill>
                <a:prstDash val="solid"/>
                <a:miter/>
              </a:ln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296835" y="924634"/>
              <a:ext cx="5858204" cy="1223399"/>
              <a:chOff x="0" y="0"/>
              <a:chExt cx="6171540" cy="128883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171565" cy="1288796"/>
              </a:xfrm>
              <a:custGeom>
                <a:avLst/>
                <a:gdLst/>
                <a:ahLst/>
                <a:cxnLst/>
                <a:rect r="r" b="b" t="t" l="l"/>
                <a:pathLst>
                  <a:path h="1288796" w="6171565">
                    <a:moveTo>
                      <a:pt x="0" y="122047"/>
                    </a:moveTo>
                    <a:cubicBezTo>
                      <a:pt x="0" y="54610"/>
                      <a:pt x="54610" y="0"/>
                      <a:pt x="122047" y="0"/>
                    </a:cubicBezTo>
                    <a:lnTo>
                      <a:pt x="6049518" y="0"/>
                    </a:lnTo>
                    <a:cubicBezTo>
                      <a:pt x="6116955" y="0"/>
                      <a:pt x="6171565" y="54610"/>
                      <a:pt x="6171565" y="122047"/>
                    </a:cubicBezTo>
                    <a:lnTo>
                      <a:pt x="6171565" y="1166749"/>
                    </a:lnTo>
                    <a:cubicBezTo>
                      <a:pt x="6171565" y="1234186"/>
                      <a:pt x="6116955" y="1288796"/>
                      <a:pt x="6049518" y="1288796"/>
                    </a:cubicBezTo>
                    <a:lnTo>
                      <a:pt x="122047" y="1288796"/>
                    </a:lnTo>
                    <a:cubicBezTo>
                      <a:pt x="54610" y="1288796"/>
                      <a:pt x="0" y="1234186"/>
                      <a:pt x="0" y="1166749"/>
                    </a:cubicBezTo>
                    <a:close/>
                  </a:path>
                </a:pathLst>
              </a:custGeom>
              <a:solidFill>
                <a:srgbClr val="F0EFFB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578324" y="1524248"/>
              <a:ext cx="257680" cy="257740"/>
              <a:chOff x="0" y="0"/>
              <a:chExt cx="271462" cy="271526"/>
            </a:xfrm>
          </p:grpSpPr>
          <p:sp>
            <p:nvSpPr>
              <p:cNvPr name="Freeform 15" id="15" descr="preencoded.png"/>
              <p:cNvSpPr/>
              <p:nvPr/>
            </p:nvSpPr>
            <p:spPr>
              <a:xfrm flipH="false" flipV="false" rot="0">
                <a:off x="0" y="0"/>
                <a:ext cx="271526" cy="271526"/>
              </a:xfrm>
              <a:custGeom>
                <a:avLst/>
                <a:gdLst/>
                <a:ahLst/>
                <a:cxnLst/>
                <a:rect r="r" b="b" t="t" l="l"/>
                <a:pathLst>
                  <a:path h="271526" w="271526">
                    <a:moveTo>
                      <a:pt x="0" y="0"/>
                    </a:moveTo>
                    <a:lnTo>
                      <a:pt x="271526" y="0"/>
                    </a:lnTo>
                    <a:lnTo>
                      <a:pt x="271526" y="271526"/>
                    </a:lnTo>
                    <a:lnTo>
                      <a:pt x="0" y="27152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9" t="0" r="9" b="0"/>
                </a:stretch>
              </a:blip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1173852" y="1060705"/>
              <a:ext cx="5377020" cy="3656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1"/>
                </a:lnSpc>
              </a:pPr>
              <a:r>
                <a:rPr lang="en-US" sz="1521" b="true">
                  <a:solidFill>
                    <a:srgbClr val="22222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Temporal feature engineering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173852" y="1508477"/>
              <a:ext cx="4602980" cy="525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1283" spc="-1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Extract hour, day, and week from transaction timestamps.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296835" y="2309042"/>
              <a:ext cx="5858204" cy="1223399"/>
              <a:chOff x="0" y="0"/>
              <a:chExt cx="6171540" cy="128883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171565" cy="1288796"/>
              </a:xfrm>
              <a:custGeom>
                <a:avLst/>
                <a:gdLst/>
                <a:ahLst/>
                <a:cxnLst/>
                <a:rect r="r" b="b" t="t" l="l"/>
                <a:pathLst>
                  <a:path h="1288796" w="6171565">
                    <a:moveTo>
                      <a:pt x="0" y="122047"/>
                    </a:moveTo>
                    <a:cubicBezTo>
                      <a:pt x="0" y="54610"/>
                      <a:pt x="54610" y="0"/>
                      <a:pt x="122047" y="0"/>
                    </a:cubicBezTo>
                    <a:lnTo>
                      <a:pt x="6049518" y="0"/>
                    </a:lnTo>
                    <a:cubicBezTo>
                      <a:pt x="6116955" y="0"/>
                      <a:pt x="6171565" y="54610"/>
                      <a:pt x="6171565" y="122047"/>
                    </a:cubicBezTo>
                    <a:lnTo>
                      <a:pt x="6171565" y="1166749"/>
                    </a:lnTo>
                    <a:cubicBezTo>
                      <a:pt x="6171565" y="1234186"/>
                      <a:pt x="6116955" y="1288796"/>
                      <a:pt x="6049518" y="1288796"/>
                    </a:cubicBezTo>
                    <a:lnTo>
                      <a:pt x="122047" y="1288796"/>
                    </a:lnTo>
                    <a:cubicBezTo>
                      <a:pt x="54610" y="1288796"/>
                      <a:pt x="0" y="1234186"/>
                      <a:pt x="0" y="1166749"/>
                    </a:cubicBezTo>
                    <a:close/>
                  </a:path>
                </a:pathLst>
              </a:custGeom>
              <a:solidFill>
                <a:srgbClr val="EEF5FC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578324" y="2908548"/>
              <a:ext cx="257680" cy="257740"/>
              <a:chOff x="0" y="0"/>
              <a:chExt cx="271462" cy="271526"/>
            </a:xfrm>
          </p:grpSpPr>
          <p:sp>
            <p:nvSpPr>
              <p:cNvPr name="Freeform 21" id="21" descr="preencoded.png"/>
              <p:cNvSpPr/>
              <p:nvPr/>
            </p:nvSpPr>
            <p:spPr>
              <a:xfrm flipH="false" flipV="false" rot="0">
                <a:off x="0" y="0"/>
                <a:ext cx="271526" cy="271526"/>
              </a:xfrm>
              <a:custGeom>
                <a:avLst/>
                <a:gdLst/>
                <a:ahLst/>
                <a:cxnLst/>
                <a:rect r="r" b="b" t="t" l="l"/>
                <a:pathLst>
                  <a:path h="271526" w="271526">
                    <a:moveTo>
                      <a:pt x="0" y="0"/>
                    </a:moveTo>
                    <a:lnTo>
                      <a:pt x="271526" y="0"/>
                    </a:lnTo>
                    <a:lnTo>
                      <a:pt x="271526" y="271526"/>
                    </a:lnTo>
                    <a:lnTo>
                      <a:pt x="0" y="27152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9" t="0" r="9" b="0"/>
                </a:stretch>
              </a:blip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1173852" y="2445113"/>
              <a:ext cx="5377020" cy="443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1"/>
                </a:lnSpc>
              </a:pPr>
              <a:r>
                <a:rPr lang="en-US" sz="1521" b="true">
                  <a:solidFill>
                    <a:srgbClr val="22222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Categorical encoding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173852" y="2892885"/>
              <a:ext cx="4602980" cy="5404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1283" spc="-1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Convert categorical features into model-compatible representations.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296835" y="3693450"/>
              <a:ext cx="5858204" cy="1223399"/>
              <a:chOff x="0" y="0"/>
              <a:chExt cx="6171540" cy="128883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171565" cy="1288796"/>
              </a:xfrm>
              <a:custGeom>
                <a:avLst/>
                <a:gdLst/>
                <a:ahLst/>
                <a:cxnLst/>
                <a:rect r="r" b="b" t="t" l="l"/>
                <a:pathLst>
                  <a:path h="1288796" w="6171565">
                    <a:moveTo>
                      <a:pt x="0" y="122047"/>
                    </a:moveTo>
                    <a:cubicBezTo>
                      <a:pt x="0" y="54610"/>
                      <a:pt x="54610" y="0"/>
                      <a:pt x="122047" y="0"/>
                    </a:cubicBezTo>
                    <a:lnTo>
                      <a:pt x="6049518" y="0"/>
                    </a:lnTo>
                    <a:cubicBezTo>
                      <a:pt x="6116955" y="0"/>
                      <a:pt x="6171565" y="54610"/>
                      <a:pt x="6171565" y="122047"/>
                    </a:cubicBezTo>
                    <a:lnTo>
                      <a:pt x="6171565" y="1166749"/>
                    </a:lnTo>
                    <a:cubicBezTo>
                      <a:pt x="6171565" y="1234186"/>
                      <a:pt x="6116955" y="1288796"/>
                      <a:pt x="6049518" y="1288796"/>
                    </a:cubicBezTo>
                    <a:lnTo>
                      <a:pt x="122047" y="1288796"/>
                    </a:lnTo>
                    <a:cubicBezTo>
                      <a:pt x="54610" y="1288796"/>
                      <a:pt x="0" y="1234186"/>
                      <a:pt x="0" y="1166749"/>
                    </a:cubicBezTo>
                    <a:close/>
                  </a:path>
                </a:pathLst>
              </a:custGeom>
              <a:solidFill>
                <a:srgbClr val="F0EFFB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578324" y="4292956"/>
              <a:ext cx="257680" cy="257740"/>
              <a:chOff x="0" y="0"/>
              <a:chExt cx="271462" cy="271526"/>
            </a:xfrm>
          </p:grpSpPr>
          <p:sp>
            <p:nvSpPr>
              <p:cNvPr name="Freeform 27" id="27" descr="preencoded.png"/>
              <p:cNvSpPr/>
              <p:nvPr/>
            </p:nvSpPr>
            <p:spPr>
              <a:xfrm flipH="false" flipV="false" rot="0">
                <a:off x="0" y="0"/>
                <a:ext cx="271526" cy="271526"/>
              </a:xfrm>
              <a:custGeom>
                <a:avLst/>
                <a:gdLst/>
                <a:ahLst/>
                <a:cxnLst/>
                <a:rect r="r" b="b" t="t" l="l"/>
                <a:pathLst>
                  <a:path h="271526" w="271526">
                    <a:moveTo>
                      <a:pt x="0" y="0"/>
                    </a:moveTo>
                    <a:lnTo>
                      <a:pt x="271526" y="0"/>
                    </a:lnTo>
                    <a:lnTo>
                      <a:pt x="271526" y="271526"/>
                    </a:lnTo>
                    <a:lnTo>
                      <a:pt x="0" y="27152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9" t="0" r="9" b="0"/>
                </a:stretch>
              </a:blip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1173852" y="3829413"/>
              <a:ext cx="5377020" cy="443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1"/>
                </a:lnSpc>
              </a:pPr>
              <a:r>
                <a:rPr lang="en-US" sz="1521" b="true">
                  <a:solidFill>
                    <a:srgbClr val="22222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Numerical scaling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173852" y="4277185"/>
              <a:ext cx="4602980" cy="5404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1283" spc="-1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Scale numerical features to prepare model inputs.</a:t>
              </a: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6727397" y="0"/>
              <a:ext cx="5856215" cy="2476996"/>
              <a:chOff x="0" y="0"/>
              <a:chExt cx="6169444" cy="260948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169406" cy="2609469"/>
              </a:xfrm>
              <a:custGeom>
                <a:avLst/>
                <a:gdLst/>
                <a:ahLst/>
                <a:cxnLst/>
                <a:rect r="r" b="b" t="t" l="l"/>
                <a:pathLst>
                  <a:path h="2609469" w="6169406">
                    <a:moveTo>
                      <a:pt x="0" y="163703"/>
                    </a:moveTo>
                    <a:cubicBezTo>
                      <a:pt x="0" y="73279"/>
                      <a:pt x="73279" y="0"/>
                      <a:pt x="163703" y="0"/>
                    </a:cubicBezTo>
                    <a:lnTo>
                      <a:pt x="6005703" y="0"/>
                    </a:lnTo>
                    <a:cubicBezTo>
                      <a:pt x="6096127" y="0"/>
                      <a:pt x="6169406" y="73279"/>
                      <a:pt x="6169406" y="163703"/>
                    </a:cubicBezTo>
                    <a:lnTo>
                      <a:pt x="6169406" y="2445766"/>
                    </a:lnTo>
                    <a:cubicBezTo>
                      <a:pt x="6169406" y="2536190"/>
                      <a:pt x="6096127" y="2609469"/>
                      <a:pt x="6005703" y="2609469"/>
                    </a:cubicBezTo>
                    <a:lnTo>
                      <a:pt x="163703" y="2609469"/>
                    </a:lnTo>
                    <a:cubicBezTo>
                      <a:pt x="73279" y="2609469"/>
                      <a:pt x="0" y="2536190"/>
                      <a:pt x="0" y="2445766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4268" t="0" r="-4269" b="0"/>
                </a:stretch>
              </a:blipFill>
              <a:ln w="9525" cap="sq">
                <a:solidFill>
                  <a:srgbClr val="BFBFBF"/>
                </a:solidFill>
                <a:prstDash val="solid"/>
                <a:miter/>
              </a:ln>
            </p:spPr>
          </p:sp>
        </p:grpSp>
        <p:sp>
          <p:nvSpPr>
            <p:cNvPr name="TextBox 32" id="32"/>
            <p:cNvSpPr txBox="true"/>
            <p:nvPr/>
          </p:nvSpPr>
          <p:spPr>
            <a:xfrm rot="0">
              <a:off x="7096443" y="619498"/>
              <a:ext cx="5795457" cy="361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3"/>
                </a:lnSpc>
              </a:pPr>
              <a:r>
                <a:rPr lang="en-US" sz="1235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Kaggle · Temporal evaluation</a:t>
              </a:r>
            </a:p>
          </p:txBody>
        </p:sp>
        <p:grpSp>
          <p:nvGrpSpPr>
            <p:cNvPr name="Group 33" id="33"/>
            <p:cNvGrpSpPr/>
            <p:nvPr/>
          </p:nvGrpSpPr>
          <p:grpSpPr>
            <a:xfrm rot="0">
              <a:off x="7024111" y="1101750"/>
              <a:ext cx="2526759" cy="1126788"/>
              <a:chOff x="0" y="0"/>
              <a:chExt cx="2661907" cy="1187056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661920" cy="1187069"/>
              </a:xfrm>
              <a:custGeom>
                <a:avLst/>
                <a:gdLst/>
                <a:ahLst/>
                <a:cxnLst/>
                <a:rect r="r" b="b" t="t" l="l"/>
                <a:pathLst>
                  <a:path h="1187069" w="2661920">
                    <a:moveTo>
                      <a:pt x="0" y="122047"/>
                    </a:moveTo>
                    <a:cubicBezTo>
                      <a:pt x="0" y="54610"/>
                      <a:pt x="54610" y="0"/>
                      <a:pt x="122047" y="0"/>
                    </a:cubicBezTo>
                    <a:lnTo>
                      <a:pt x="2539873" y="0"/>
                    </a:lnTo>
                    <a:cubicBezTo>
                      <a:pt x="2607310" y="0"/>
                      <a:pt x="2661920" y="54610"/>
                      <a:pt x="2661920" y="122047"/>
                    </a:cubicBezTo>
                    <a:lnTo>
                      <a:pt x="2661920" y="1065022"/>
                    </a:lnTo>
                    <a:cubicBezTo>
                      <a:pt x="2661920" y="1132459"/>
                      <a:pt x="2607310" y="1187069"/>
                      <a:pt x="2539873" y="1187069"/>
                    </a:cubicBezTo>
                    <a:lnTo>
                      <a:pt x="122047" y="1187069"/>
                    </a:lnTo>
                    <a:cubicBezTo>
                      <a:pt x="54610" y="1187069"/>
                      <a:pt x="0" y="1132332"/>
                      <a:pt x="0" y="1065022"/>
                    </a:cubicBezTo>
                    <a:close/>
                  </a:path>
                </a:pathLst>
              </a:custGeom>
              <a:solidFill>
                <a:srgbClr val="EEEBFA"/>
              </a:solidFill>
            </p:spPr>
          </p:sp>
        </p:grpSp>
        <p:sp>
          <p:nvSpPr>
            <p:cNvPr name="TextBox 35" id="35"/>
            <p:cNvSpPr txBox="true"/>
            <p:nvPr/>
          </p:nvSpPr>
          <p:spPr>
            <a:xfrm rot="0">
              <a:off x="6749675" y="1205512"/>
              <a:ext cx="3075633" cy="443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1"/>
                </a:lnSpc>
              </a:pPr>
              <a:r>
                <a:rPr lang="en-US" sz="1521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First 10 months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6757715" y="1665770"/>
              <a:ext cx="3059539" cy="337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11"/>
                </a:lnSpc>
              </a:pPr>
              <a:r>
                <a:rPr lang="en-US" sz="114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Training</a:t>
              </a:r>
            </a:p>
          </p:txBody>
        </p:sp>
        <p:grpSp>
          <p:nvGrpSpPr>
            <p:cNvPr name="Group 37" id="37"/>
            <p:cNvGrpSpPr/>
            <p:nvPr/>
          </p:nvGrpSpPr>
          <p:grpSpPr>
            <a:xfrm rot="0">
              <a:off x="9744044" y="1101750"/>
              <a:ext cx="2542853" cy="1126788"/>
              <a:chOff x="0" y="0"/>
              <a:chExt cx="2678862" cy="118705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678811" cy="1187069"/>
              </a:xfrm>
              <a:custGeom>
                <a:avLst/>
                <a:gdLst/>
                <a:ahLst/>
                <a:cxnLst/>
                <a:rect r="r" b="b" t="t" l="l"/>
                <a:pathLst>
                  <a:path h="1187069" w="2678811">
                    <a:moveTo>
                      <a:pt x="0" y="122047"/>
                    </a:moveTo>
                    <a:cubicBezTo>
                      <a:pt x="0" y="54610"/>
                      <a:pt x="54610" y="0"/>
                      <a:pt x="122047" y="0"/>
                    </a:cubicBezTo>
                    <a:lnTo>
                      <a:pt x="2556764" y="0"/>
                    </a:lnTo>
                    <a:cubicBezTo>
                      <a:pt x="2624201" y="0"/>
                      <a:pt x="2678811" y="54610"/>
                      <a:pt x="2678811" y="122047"/>
                    </a:cubicBezTo>
                    <a:lnTo>
                      <a:pt x="2678811" y="1065022"/>
                    </a:lnTo>
                    <a:cubicBezTo>
                      <a:pt x="2678811" y="1132459"/>
                      <a:pt x="2624201" y="1187069"/>
                      <a:pt x="2556764" y="1187069"/>
                    </a:cubicBezTo>
                    <a:lnTo>
                      <a:pt x="122047" y="1187069"/>
                    </a:lnTo>
                    <a:cubicBezTo>
                      <a:pt x="54610" y="1187069"/>
                      <a:pt x="0" y="1132332"/>
                      <a:pt x="0" y="1065022"/>
                    </a:cubicBezTo>
                    <a:close/>
                  </a:path>
                </a:pathLst>
              </a:custGeom>
              <a:solidFill>
                <a:srgbClr val="EAF3FC"/>
              </a:solidFill>
            </p:spPr>
          </p:sp>
        </p:grpSp>
        <p:sp>
          <p:nvSpPr>
            <p:cNvPr name="TextBox 39" id="39"/>
            <p:cNvSpPr txBox="true"/>
            <p:nvPr/>
          </p:nvSpPr>
          <p:spPr>
            <a:xfrm rot="0">
              <a:off x="9469607" y="1205512"/>
              <a:ext cx="3091739" cy="443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1"/>
                </a:lnSpc>
              </a:pPr>
              <a:r>
                <a:rPr lang="en-US" sz="1521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Final 2 months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9477660" y="1665770"/>
              <a:ext cx="3075633" cy="337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11"/>
                </a:lnSpc>
              </a:pPr>
              <a:r>
                <a:rPr lang="en-US" sz="114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Testing</a:t>
              </a:r>
            </a:p>
          </p:txBody>
        </p:sp>
        <p:grpSp>
          <p:nvGrpSpPr>
            <p:cNvPr name="Group 41" id="41"/>
            <p:cNvGrpSpPr/>
            <p:nvPr/>
          </p:nvGrpSpPr>
          <p:grpSpPr>
            <a:xfrm rot="0">
              <a:off x="6727397" y="2688311"/>
              <a:ext cx="5856215" cy="2476996"/>
              <a:chOff x="0" y="0"/>
              <a:chExt cx="6169444" cy="2609482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6169406" cy="2609469"/>
              </a:xfrm>
              <a:custGeom>
                <a:avLst/>
                <a:gdLst/>
                <a:ahLst/>
                <a:cxnLst/>
                <a:rect r="r" b="b" t="t" l="l"/>
                <a:pathLst>
                  <a:path h="2609469" w="6169406">
                    <a:moveTo>
                      <a:pt x="0" y="163703"/>
                    </a:moveTo>
                    <a:cubicBezTo>
                      <a:pt x="0" y="73279"/>
                      <a:pt x="73279" y="0"/>
                      <a:pt x="163703" y="0"/>
                    </a:cubicBezTo>
                    <a:lnTo>
                      <a:pt x="6005703" y="0"/>
                    </a:lnTo>
                    <a:cubicBezTo>
                      <a:pt x="6096127" y="0"/>
                      <a:pt x="6169406" y="73279"/>
                      <a:pt x="6169406" y="163703"/>
                    </a:cubicBezTo>
                    <a:lnTo>
                      <a:pt x="6169406" y="2445766"/>
                    </a:lnTo>
                    <a:cubicBezTo>
                      <a:pt x="6169406" y="2536190"/>
                      <a:pt x="6096127" y="2609469"/>
                      <a:pt x="6005703" y="2609469"/>
                    </a:cubicBezTo>
                    <a:lnTo>
                      <a:pt x="163703" y="2609469"/>
                    </a:lnTo>
                    <a:cubicBezTo>
                      <a:pt x="73279" y="2609469"/>
                      <a:pt x="0" y="2536190"/>
                      <a:pt x="0" y="2445766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4268" t="0" r="-4269" b="0"/>
                </a:stretch>
              </a:blipFill>
              <a:ln w="9525" cap="sq">
                <a:solidFill>
                  <a:srgbClr val="BFBFBF"/>
                </a:solidFill>
                <a:prstDash val="solid"/>
                <a:miter/>
              </a:ln>
            </p:spPr>
          </p:sp>
        </p:grpSp>
        <p:sp>
          <p:nvSpPr>
            <p:cNvPr name="TextBox 43" id="43"/>
            <p:cNvSpPr txBox="true"/>
            <p:nvPr/>
          </p:nvSpPr>
          <p:spPr>
            <a:xfrm rot="0">
              <a:off x="7096443" y="2888584"/>
              <a:ext cx="5118014" cy="405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5"/>
                </a:lnSpc>
              </a:pPr>
              <a:r>
                <a:rPr lang="en-US" sz="1996" b="true">
                  <a:solidFill>
                    <a:srgbClr val="193EB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Support Dataset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7096443" y="3307797"/>
              <a:ext cx="5795457" cy="361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3"/>
                </a:lnSpc>
              </a:pPr>
              <a:r>
                <a:rPr lang="en-US" sz="1235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Mendeley · Few-shot evaluation</a:t>
              </a:r>
            </a:p>
          </p:txBody>
        </p:sp>
        <p:grpSp>
          <p:nvGrpSpPr>
            <p:cNvPr name="Group 45" id="45"/>
            <p:cNvGrpSpPr/>
            <p:nvPr/>
          </p:nvGrpSpPr>
          <p:grpSpPr>
            <a:xfrm rot="0">
              <a:off x="7024111" y="3790061"/>
              <a:ext cx="2526759" cy="1126788"/>
              <a:chOff x="0" y="0"/>
              <a:chExt cx="2661907" cy="1187056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2661920" cy="1187069"/>
              </a:xfrm>
              <a:custGeom>
                <a:avLst/>
                <a:gdLst/>
                <a:ahLst/>
                <a:cxnLst/>
                <a:rect r="r" b="b" t="t" l="l"/>
                <a:pathLst>
                  <a:path h="1187069" w="2661920">
                    <a:moveTo>
                      <a:pt x="0" y="122047"/>
                    </a:moveTo>
                    <a:cubicBezTo>
                      <a:pt x="0" y="54610"/>
                      <a:pt x="54610" y="0"/>
                      <a:pt x="122047" y="0"/>
                    </a:cubicBezTo>
                    <a:lnTo>
                      <a:pt x="2539873" y="0"/>
                    </a:lnTo>
                    <a:cubicBezTo>
                      <a:pt x="2607310" y="0"/>
                      <a:pt x="2661920" y="54610"/>
                      <a:pt x="2661920" y="122047"/>
                    </a:cubicBezTo>
                    <a:lnTo>
                      <a:pt x="2661920" y="1065022"/>
                    </a:lnTo>
                    <a:cubicBezTo>
                      <a:pt x="2661920" y="1132459"/>
                      <a:pt x="2607310" y="1187069"/>
                      <a:pt x="2539873" y="1187069"/>
                    </a:cubicBezTo>
                    <a:lnTo>
                      <a:pt x="122047" y="1187069"/>
                    </a:lnTo>
                    <a:cubicBezTo>
                      <a:pt x="54610" y="1187069"/>
                      <a:pt x="0" y="1132332"/>
                      <a:pt x="0" y="1065022"/>
                    </a:cubicBezTo>
                    <a:close/>
                  </a:path>
                </a:pathLst>
              </a:custGeom>
              <a:solidFill>
                <a:srgbClr val="EEEBFA"/>
              </a:solidFill>
            </p:spPr>
          </p:sp>
        </p:grpSp>
        <p:sp>
          <p:nvSpPr>
            <p:cNvPr name="TextBox 47" id="47"/>
            <p:cNvSpPr txBox="true"/>
            <p:nvPr/>
          </p:nvSpPr>
          <p:spPr>
            <a:xfrm rot="0">
              <a:off x="6733569" y="3893812"/>
              <a:ext cx="3107833" cy="443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1"/>
                </a:lnSpc>
              </a:pPr>
              <a:r>
                <a:rPr lang="en-US" sz="1521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 known patterns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6757715" y="4354081"/>
              <a:ext cx="3059539" cy="337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11"/>
                </a:lnSpc>
              </a:pPr>
              <a:r>
                <a:rPr lang="en-US" sz="114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Initial training</a:t>
              </a:r>
            </a:p>
          </p:txBody>
        </p:sp>
        <p:grpSp>
          <p:nvGrpSpPr>
            <p:cNvPr name="Group 49" id="49"/>
            <p:cNvGrpSpPr/>
            <p:nvPr/>
          </p:nvGrpSpPr>
          <p:grpSpPr>
            <a:xfrm rot="0">
              <a:off x="9744044" y="3790061"/>
              <a:ext cx="2542853" cy="1126788"/>
              <a:chOff x="0" y="0"/>
              <a:chExt cx="2678862" cy="1187056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678811" cy="1187069"/>
              </a:xfrm>
              <a:custGeom>
                <a:avLst/>
                <a:gdLst/>
                <a:ahLst/>
                <a:cxnLst/>
                <a:rect r="r" b="b" t="t" l="l"/>
                <a:pathLst>
                  <a:path h="1187069" w="2678811">
                    <a:moveTo>
                      <a:pt x="0" y="122047"/>
                    </a:moveTo>
                    <a:cubicBezTo>
                      <a:pt x="0" y="54610"/>
                      <a:pt x="54610" y="0"/>
                      <a:pt x="122047" y="0"/>
                    </a:cubicBezTo>
                    <a:lnTo>
                      <a:pt x="2556764" y="0"/>
                    </a:lnTo>
                    <a:cubicBezTo>
                      <a:pt x="2624201" y="0"/>
                      <a:pt x="2678811" y="54610"/>
                      <a:pt x="2678811" y="122047"/>
                    </a:cubicBezTo>
                    <a:lnTo>
                      <a:pt x="2678811" y="1065022"/>
                    </a:lnTo>
                    <a:cubicBezTo>
                      <a:pt x="2678811" y="1132459"/>
                      <a:pt x="2624201" y="1187069"/>
                      <a:pt x="2556764" y="1187069"/>
                    </a:cubicBezTo>
                    <a:lnTo>
                      <a:pt x="122047" y="1187069"/>
                    </a:lnTo>
                    <a:cubicBezTo>
                      <a:pt x="54610" y="1187069"/>
                      <a:pt x="0" y="1132332"/>
                      <a:pt x="0" y="1065022"/>
                    </a:cubicBezTo>
                    <a:close/>
                  </a:path>
                </a:pathLst>
              </a:custGeom>
              <a:solidFill>
                <a:srgbClr val="EAF3FC"/>
              </a:solidFill>
            </p:spPr>
          </p:sp>
        </p:grpSp>
        <p:sp>
          <p:nvSpPr>
            <p:cNvPr name="TextBox 51" id="51"/>
            <p:cNvSpPr txBox="true"/>
            <p:nvPr/>
          </p:nvSpPr>
          <p:spPr>
            <a:xfrm rot="0">
              <a:off x="9453513" y="3893812"/>
              <a:ext cx="3123938" cy="4433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81"/>
                </a:lnSpc>
              </a:pPr>
              <a:r>
                <a:rPr lang="en-US" sz="1521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 labeled examples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9477660" y="4354081"/>
              <a:ext cx="3075633" cy="325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39"/>
                </a:lnSpc>
              </a:pPr>
              <a:r>
                <a:rPr lang="en-US" sz="1093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From the held-out pattern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9190" y="231947"/>
            <a:ext cx="5897761" cy="7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Supervised Base models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9413" y="1746518"/>
            <a:ext cx="9738637" cy="4031058"/>
            <a:chOff x="0" y="0"/>
            <a:chExt cx="12984850" cy="537474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713340" cy="5374744"/>
              <a:chOff x="0" y="0"/>
              <a:chExt cx="6796824" cy="544158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796786" cy="5441569"/>
              </a:xfrm>
              <a:custGeom>
                <a:avLst/>
                <a:gdLst/>
                <a:ahLst/>
                <a:cxnLst/>
                <a:rect r="r" b="b" t="t" l="l"/>
                <a:pathLst>
                  <a:path h="5441569" w="6796786">
                    <a:moveTo>
                      <a:pt x="0" y="163195"/>
                    </a:moveTo>
                    <a:cubicBezTo>
                      <a:pt x="0" y="73025"/>
                      <a:pt x="73025" y="0"/>
                      <a:pt x="163195" y="0"/>
                    </a:cubicBezTo>
                    <a:lnTo>
                      <a:pt x="6633591" y="0"/>
                    </a:lnTo>
                    <a:cubicBezTo>
                      <a:pt x="6723761" y="0"/>
                      <a:pt x="6796786" y="73025"/>
                      <a:pt x="6796786" y="163195"/>
                    </a:cubicBezTo>
                    <a:lnTo>
                      <a:pt x="6796786" y="5278374"/>
                    </a:lnTo>
                    <a:cubicBezTo>
                      <a:pt x="6796786" y="5368544"/>
                      <a:pt x="6723761" y="5441569"/>
                      <a:pt x="6633591" y="5441569"/>
                    </a:cubicBezTo>
                    <a:lnTo>
                      <a:pt x="163195" y="5441569"/>
                    </a:lnTo>
                    <a:cubicBezTo>
                      <a:pt x="73025" y="5441569"/>
                      <a:pt x="0" y="5368544"/>
                      <a:pt x="0" y="5278374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52720" t="0" r="-52721" b="0"/>
                </a:stretch>
              </a:blipFill>
              <a:ln w="9525" cap="sq">
                <a:solidFill>
                  <a:srgbClr val="BFBFBF"/>
                </a:solidFill>
                <a:prstDash val="solid"/>
                <a:miter/>
              </a:ln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492246" y="357519"/>
              <a:ext cx="5843656" cy="4441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66"/>
                </a:lnSpc>
              </a:pPr>
              <a:r>
                <a:rPr lang="en-US" sz="2139" b="true">
                  <a:solidFill>
                    <a:srgbClr val="193EB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Models Evaluated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92246" y="963876"/>
              <a:ext cx="6536525" cy="452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33"/>
                </a:lnSpc>
              </a:pPr>
              <a:r>
                <a:rPr lang="en-US" sz="1555" b="true">
                  <a:solidFill>
                    <a:srgbClr val="22222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1. Logistic Regression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92246" y="1470383"/>
              <a:ext cx="5843656" cy="552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312" spc="-1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 linear classification baseline for distinguishing fraudulent from legitimate transactions.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418268" y="2338151"/>
              <a:ext cx="5991613" cy="13082"/>
              <a:chOff x="0" y="0"/>
              <a:chExt cx="6171540" cy="1347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171565" cy="13462"/>
              </a:xfrm>
              <a:custGeom>
                <a:avLst/>
                <a:gdLst/>
                <a:ahLst/>
                <a:cxnLst/>
                <a:rect r="r" b="b" t="t" l="l"/>
                <a:pathLst>
                  <a:path h="13462" w="6171565">
                    <a:moveTo>
                      <a:pt x="0" y="0"/>
                    </a:moveTo>
                    <a:lnTo>
                      <a:pt x="6171565" y="0"/>
                    </a:lnTo>
                    <a:lnTo>
                      <a:pt x="6171565" y="13462"/>
                    </a:lnTo>
                    <a:lnTo>
                      <a:pt x="0" y="13462"/>
                    </a:lnTo>
                    <a:close/>
                  </a:path>
                </a:pathLst>
              </a:custGeom>
              <a:solidFill>
                <a:srgbClr val="BFBFBF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492246" y="2511567"/>
              <a:ext cx="6536525" cy="452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33"/>
                </a:lnSpc>
              </a:pPr>
              <a:r>
                <a:rPr lang="en-US" sz="1555" b="true">
                  <a:solidFill>
                    <a:srgbClr val="22222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2. Random Forest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92246" y="3018074"/>
              <a:ext cx="5843656" cy="552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312" spc="-1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An ensemble of decision trees that captures nonlinear relationships and feature interactions.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418268" y="3885841"/>
              <a:ext cx="5991613" cy="13082"/>
              <a:chOff x="0" y="0"/>
              <a:chExt cx="6171540" cy="1347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171565" cy="13462"/>
              </a:xfrm>
              <a:custGeom>
                <a:avLst/>
                <a:gdLst/>
                <a:ahLst/>
                <a:cxnLst/>
                <a:rect r="r" b="b" t="t" l="l"/>
                <a:pathLst>
                  <a:path h="13462" w="6171565">
                    <a:moveTo>
                      <a:pt x="0" y="0"/>
                    </a:moveTo>
                    <a:lnTo>
                      <a:pt x="6171565" y="0"/>
                    </a:lnTo>
                    <a:lnTo>
                      <a:pt x="6171565" y="13462"/>
                    </a:lnTo>
                    <a:lnTo>
                      <a:pt x="0" y="13462"/>
                    </a:lnTo>
                    <a:close/>
                  </a:path>
                </a:pathLst>
              </a:custGeom>
              <a:solidFill>
                <a:srgbClr val="BFBFBF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492246" y="4059134"/>
              <a:ext cx="6536525" cy="452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33"/>
                </a:lnSpc>
              </a:pPr>
              <a:r>
                <a:rPr lang="en-US" sz="1555" b="true">
                  <a:solidFill>
                    <a:srgbClr val="22222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3. XGBoost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92246" y="4565641"/>
              <a:ext cx="5843656" cy="552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312" spc="-1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 gradient-boosted tree ensemble that builds successive trees to improve predictive performance.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6995272" y="91808"/>
              <a:ext cx="5989578" cy="2533404"/>
              <a:chOff x="0" y="0"/>
              <a:chExt cx="6169444" cy="260948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169406" cy="2609469"/>
              </a:xfrm>
              <a:custGeom>
                <a:avLst/>
                <a:gdLst/>
                <a:ahLst/>
                <a:cxnLst/>
                <a:rect r="r" b="b" t="t" l="l"/>
                <a:pathLst>
                  <a:path h="2609469" w="6169406">
                    <a:moveTo>
                      <a:pt x="0" y="163703"/>
                    </a:moveTo>
                    <a:cubicBezTo>
                      <a:pt x="0" y="73279"/>
                      <a:pt x="73279" y="0"/>
                      <a:pt x="163703" y="0"/>
                    </a:cubicBezTo>
                    <a:lnTo>
                      <a:pt x="6005703" y="0"/>
                    </a:lnTo>
                    <a:cubicBezTo>
                      <a:pt x="6096127" y="0"/>
                      <a:pt x="6169406" y="73279"/>
                      <a:pt x="6169406" y="163703"/>
                    </a:cubicBezTo>
                    <a:lnTo>
                      <a:pt x="6169406" y="2445766"/>
                    </a:lnTo>
                    <a:cubicBezTo>
                      <a:pt x="6169406" y="2536190"/>
                      <a:pt x="6096127" y="2609469"/>
                      <a:pt x="6005703" y="2609469"/>
                    </a:cubicBezTo>
                    <a:lnTo>
                      <a:pt x="163703" y="2609469"/>
                    </a:lnTo>
                    <a:cubicBezTo>
                      <a:pt x="73279" y="2609469"/>
                      <a:pt x="0" y="2536190"/>
                      <a:pt x="0" y="2445766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4268" t="0" r="-4269" b="0"/>
                </a:stretch>
              </a:blipFill>
              <a:ln w="9525" cap="sq">
                <a:solidFill>
                  <a:srgbClr val="BFBFBF"/>
                </a:solidFill>
                <a:prstDash val="solid"/>
                <a:miter/>
              </a:ln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7372722" y="287129"/>
              <a:ext cx="5234567" cy="4243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50"/>
                </a:lnSpc>
              </a:pPr>
              <a:r>
                <a:rPr lang="en-US" sz="2041" b="true">
                  <a:solidFill>
                    <a:srgbClr val="193EB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Reference for Comparison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7372722" y="808836"/>
              <a:ext cx="5234567" cy="689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95"/>
                </a:lnSpc>
              </a:pPr>
              <a:r>
                <a:rPr lang="en-US" sz="1263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These models establish how conventional supervised learning performs across both experimental settings.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0">
              <a:off x="6995272" y="2841340"/>
              <a:ext cx="5989578" cy="2533404"/>
              <a:chOff x="0" y="0"/>
              <a:chExt cx="6169444" cy="2609482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169406" cy="2609469"/>
              </a:xfrm>
              <a:custGeom>
                <a:avLst/>
                <a:gdLst/>
                <a:ahLst/>
                <a:cxnLst/>
                <a:rect r="r" b="b" t="t" l="l"/>
                <a:pathLst>
                  <a:path h="2609469" w="6169406">
                    <a:moveTo>
                      <a:pt x="0" y="163703"/>
                    </a:moveTo>
                    <a:cubicBezTo>
                      <a:pt x="0" y="73279"/>
                      <a:pt x="73279" y="0"/>
                      <a:pt x="163703" y="0"/>
                    </a:cubicBezTo>
                    <a:lnTo>
                      <a:pt x="6005703" y="0"/>
                    </a:lnTo>
                    <a:cubicBezTo>
                      <a:pt x="6096127" y="0"/>
                      <a:pt x="6169406" y="73279"/>
                      <a:pt x="6169406" y="163703"/>
                    </a:cubicBezTo>
                    <a:lnTo>
                      <a:pt x="6169406" y="2445766"/>
                    </a:lnTo>
                    <a:cubicBezTo>
                      <a:pt x="6169406" y="2536190"/>
                      <a:pt x="6096127" y="2609469"/>
                      <a:pt x="6005703" y="2609469"/>
                    </a:cubicBezTo>
                    <a:lnTo>
                      <a:pt x="163703" y="2609469"/>
                    </a:lnTo>
                    <a:cubicBezTo>
                      <a:pt x="73279" y="2609469"/>
                      <a:pt x="0" y="2536190"/>
                      <a:pt x="0" y="2445766"/>
                    </a:cubicBez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4268" t="0" r="-4269" b="0"/>
                </a:stretch>
              </a:blipFill>
              <a:ln w="9525" cap="sq">
                <a:solidFill>
                  <a:srgbClr val="BFBFBF"/>
                </a:solidFill>
                <a:prstDash val="solid"/>
                <a:miter/>
              </a:ln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7372722" y="3036649"/>
              <a:ext cx="5234567" cy="4243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50"/>
                </a:lnSpc>
              </a:pPr>
              <a:r>
                <a:rPr lang="en-US" sz="2041" b="true">
                  <a:solidFill>
                    <a:srgbClr val="193EB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Limitation to Investigate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7372722" y="3558257"/>
              <a:ext cx="5234567" cy="1011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95"/>
                </a:lnSpc>
              </a:pPr>
              <a:r>
                <a:rPr lang="en-US" sz="1263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Can conventional classifiers recognize a previously unseen fraud pattern when given only a few labeled examples?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21179" y="1748668"/>
            <a:ext cx="4622541" cy="2630967"/>
            <a:chOff x="0" y="0"/>
            <a:chExt cx="5267372" cy="29979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67372" cy="2998006"/>
            </a:xfrm>
            <a:custGeom>
              <a:avLst/>
              <a:gdLst/>
              <a:ahLst/>
              <a:cxnLst/>
              <a:rect r="r" b="b" t="t" l="l"/>
              <a:pathLst>
                <a:path h="2998006" w="5267372">
                  <a:moveTo>
                    <a:pt x="0" y="0"/>
                  </a:moveTo>
                  <a:lnTo>
                    <a:pt x="5267372" y="0"/>
                  </a:lnTo>
                  <a:lnTo>
                    <a:pt x="5267372" y="2998006"/>
                  </a:lnTo>
                  <a:lnTo>
                    <a:pt x="0" y="2998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018" r="0" b="-601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853005" y="1759302"/>
            <a:ext cx="4500542" cy="2525144"/>
            <a:chOff x="0" y="0"/>
            <a:chExt cx="4542884" cy="25489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2884" cy="2548926"/>
            </a:xfrm>
            <a:custGeom>
              <a:avLst/>
              <a:gdLst/>
              <a:ahLst/>
              <a:cxnLst/>
              <a:rect r="r" b="b" t="t" l="l"/>
              <a:pathLst>
                <a:path h="2548926" w="4542884">
                  <a:moveTo>
                    <a:pt x="0" y="0"/>
                  </a:moveTo>
                  <a:lnTo>
                    <a:pt x="4542884" y="0"/>
                  </a:lnTo>
                  <a:lnTo>
                    <a:pt x="4542884" y="2548926"/>
                  </a:lnTo>
                  <a:lnTo>
                    <a:pt x="0" y="25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826" r="0" b="-682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1179" y="5283211"/>
            <a:ext cx="4402453" cy="888989"/>
            <a:chOff x="0" y="0"/>
            <a:chExt cx="5869938" cy="1185319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869938" cy="1185319"/>
              <a:chOff x="0" y="0"/>
              <a:chExt cx="6288164" cy="126977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288151" cy="1269746"/>
              </a:xfrm>
              <a:custGeom>
                <a:avLst/>
                <a:gdLst/>
                <a:ahLst/>
                <a:cxnLst/>
                <a:rect r="r" b="b" t="t" l="l"/>
                <a:pathLst>
                  <a:path h="1269746" w="6288151">
                    <a:moveTo>
                      <a:pt x="0" y="164719"/>
                    </a:moveTo>
                    <a:cubicBezTo>
                      <a:pt x="0" y="73787"/>
                      <a:pt x="73787" y="0"/>
                      <a:pt x="164719" y="0"/>
                    </a:cubicBezTo>
                    <a:lnTo>
                      <a:pt x="6123432" y="0"/>
                    </a:lnTo>
                    <a:cubicBezTo>
                      <a:pt x="6214364" y="0"/>
                      <a:pt x="6288151" y="73787"/>
                      <a:pt x="6288151" y="164719"/>
                    </a:cubicBezTo>
                    <a:lnTo>
                      <a:pt x="6288151" y="1105027"/>
                    </a:lnTo>
                    <a:cubicBezTo>
                      <a:pt x="6288151" y="1195959"/>
                      <a:pt x="6214364" y="1269746"/>
                      <a:pt x="6123432" y="1269746"/>
                    </a:cubicBezTo>
                    <a:lnTo>
                      <a:pt x="164719" y="1269746"/>
                    </a:lnTo>
                    <a:cubicBezTo>
                      <a:pt x="73787" y="1269746"/>
                      <a:pt x="0" y="1196086"/>
                      <a:pt x="0" y="1105027"/>
                    </a:cubicBez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46494" r="0" b="-46496"/>
                </a:stretch>
              </a:blipFill>
              <a:ln w="9525" cap="sq">
                <a:solidFill>
                  <a:srgbClr val="BFBFBF"/>
                </a:solidFill>
                <a:prstDash val="solid"/>
                <a:miter/>
              </a:ln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299608" y="501504"/>
              <a:ext cx="237581" cy="237628"/>
              <a:chOff x="0" y="0"/>
              <a:chExt cx="254508" cy="254559"/>
            </a:xfrm>
          </p:grpSpPr>
          <p:sp>
            <p:nvSpPr>
              <p:cNvPr name="Freeform 13" id="13" descr="preencoded.png"/>
              <p:cNvSpPr/>
              <p:nvPr/>
            </p:nvSpPr>
            <p:spPr>
              <a:xfrm flipH="false" flipV="false" rot="0">
                <a:off x="0" y="0"/>
                <a:ext cx="254508" cy="254508"/>
              </a:xfrm>
              <a:custGeom>
                <a:avLst/>
                <a:gdLst/>
                <a:ahLst/>
                <a:cxnLst/>
                <a:rect r="r" b="b" t="t" l="l"/>
                <a:pathLst>
                  <a:path h="254508" w="254508">
                    <a:moveTo>
                      <a:pt x="0" y="0"/>
                    </a:moveTo>
                    <a:lnTo>
                      <a:pt x="254508" y="0"/>
                    </a:lnTo>
                    <a:lnTo>
                      <a:pt x="254508" y="254508"/>
                    </a:lnTo>
                    <a:lnTo>
                      <a:pt x="0" y="25450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9" t="0" r="-9" b="-19"/>
                </a:stretch>
              </a:blip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901088" y="177796"/>
              <a:ext cx="4605817" cy="30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82"/>
                </a:lnSpc>
              </a:pPr>
              <a:r>
                <a:rPr lang="en-US" sz="1402" b="true">
                  <a:solidFill>
                    <a:srgbClr val="193EB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Reference for Comparison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711106" y="465912"/>
              <a:ext cx="4922449" cy="5938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12"/>
                </a:lnSpc>
              </a:pPr>
              <a:r>
                <a:rPr lang="en-US" sz="1075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These models establish the conventional supervised-learning baseline for our fraud detection experiments.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646299" y="4450602"/>
            <a:ext cx="5003350" cy="1721598"/>
            <a:chOff x="0" y="0"/>
            <a:chExt cx="6671133" cy="2295464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671133" cy="2295464"/>
              <a:chOff x="0" y="0"/>
              <a:chExt cx="6288164" cy="216368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288151" cy="2163790"/>
              </a:xfrm>
              <a:custGeom>
                <a:avLst/>
                <a:gdLst/>
                <a:ahLst/>
                <a:cxnLst/>
                <a:rect r="r" b="b" t="t" l="l"/>
                <a:pathLst>
                  <a:path h="2163790" w="6288151">
                    <a:moveTo>
                      <a:pt x="0" y="109342"/>
                    </a:moveTo>
                    <a:cubicBezTo>
                      <a:pt x="0" y="48898"/>
                      <a:pt x="73152" y="0"/>
                      <a:pt x="163576" y="0"/>
                    </a:cubicBezTo>
                    <a:lnTo>
                      <a:pt x="6124575" y="0"/>
                    </a:lnTo>
                    <a:cubicBezTo>
                      <a:pt x="6214872" y="0"/>
                      <a:pt x="6288151" y="48898"/>
                      <a:pt x="6288151" y="109342"/>
                    </a:cubicBezTo>
                    <a:lnTo>
                      <a:pt x="6288151" y="2054414"/>
                    </a:lnTo>
                    <a:cubicBezTo>
                      <a:pt x="6288151" y="2114773"/>
                      <a:pt x="6214999" y="2163790"/>
                      <a:pt x="6124575" y="2163790"/>
                    </a:cubicBezTo>
                    <a:lnTo>
                      <a:pt x="163576" y="2163790"/>
                    </a:lnTo>
                    <a:cubicBezTo>
                      <a:pt x="73152" y="2163671"/>
                      <a:pt x="0" y="2114773"/>
                      <a:pt x="0" y="2054414"/>
                    </a:cubicBez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16045" t="0" r="-16045" b="-49592"/>
                </a:stretch>
              </a:blipFill>
              <a:ln w="9525" cap="sq">
                <a:solidFill>
                  <a:srgbClr val="BFBFBF"/>
                </a:solidFill>
                <a:prstDash val="solid"/>
                <a:miter/>
              </a:ln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376476" y="498087"/>
              <a:ext cx="270008" cy="270062"/>
              <a:chOff x="0" y="0"/>
              <a:chExt cx="254508" cy="254559"/>
            </a:xfrm>
          </p:grpSpPr>
          <p:sp>
            <p:nvSpPr>
              <p:cNvPr name="Freeform 20" id="20" descr="preencoded.png"/>
              <p:cNvSpPr/>
              <p:nvPr/>
            </p:nvSpPr>
            <p:spPr>
              <a:xfrm flipH="false" flipV="false" rot="0">
                <a:off x="0" y="0"/>
                <a:ext cx="254508" cy="254508"/>
              </a:xfrm>
              <a:custGeom>
                <a:avLst/>
                <a:gdLst/>
                <a:ahLst/>
                <a:cxnLst/>
                <a:rect r="r" b="b" t="t" l="l"/>
                <a:pathLst>
                  <a:path h="254508" w="254508">
                    <a:moveTo>
                      <a:pt x="0" y="0"/>
                    </a:moveTo>
                    <a:lnTo>
                      <a:pt x="254508" y="0"/>
                    </a:lnTo>
                    <a:lnTo>
                      <a:pt x="254508" y="254508"/>
                    </a:lnTo>
                    <a:lnTo>
                      <a:pt x="0" y="25450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9" t="0" r="-9" b="-19"/>
                </a:stretch>
              </a:blip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1024078" y="168676"/>
              <a:ext cx="5234470" cy="34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593" b="true">
                  <a:solidFill>
                    <a:srgbClr val="193EB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What We Observed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828233" y="639748"/>
              <a:ext cx="5538265" cy="1431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37326" indent="-68663" lvl="1">
                <a:lnSpc>
                  <a:spcPts val="1704"/>
                </a:lnSpc>
                <a:buFont typeface="Arial"/>
                <a:buChar char="•"/>
              </a:pPr>
              <a:r>
                <a:rPr lang="en-US" sz="1136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XGBoost</a:t>
              </a:r>
              <a:r>
                <a:rPr lang="en-US" sz="1136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achieved the highest ROC-AUC (1.0) and average precision (0.82).</a:t>
              </a:r>
            </a:p>
            <a:p>
              <a:pPr algn="l" marL="137326" indent="-68663" lvl="1">
                <a:lnSpc>
                  <a:spcPts val="1704"/>
                </a:lnSpc>
                <a:buFont typeface="Arial"/>
                <a:buChar char="•"/>
              </a:pPr>
              <a:r>
                <a:rPr lang="en-US" sz="1136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Random forest was close behind in average precision (0.68).</a:t>
              </a:r>
            </a:p>
            <a:p>
              <a:pPr algn="l" marL="137326" indent="-68663" lvl="1">
                <a:lnSpc>
                  <a:spcPts val="1704"/>
                </a:lnSpc>
                <a:buFont typeface="Arial"/>
                <a:buChar char="•"/>
              </a:pPr>
              <a:r>
                <a:rPr lang="en-US" sz="1136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Logistic Regression had a similar ROC-AUC (0.8) but substantially lower average precision (0.03).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1179" y="4408210"/>
            <a:ext cx="4402453" cy="770225"/>
            <a:chOff x="0" y="0"/>
            <a:chExt cx="5869938" cy="1026967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5869938" cy="1026967"/>
              <a:chOff x="0" y="0"/>
              <a:chExt cx="6288164" cy="110013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288151" cy="1100074"/>
              </a:xfrm>
              <a:custGeom>
                <a:avLst/>
                <a:gdLst/>
                <a:ahLst/>
                <a:cxnLst/>
                <a:rect r="r" b="b" t="t" l="l"/>
                <a:pathLst>
                  <a:path h="1100074" w="6288151">
                    <a:moveTo>
                      <a:pt x="0" y="164973"/>
                    </a:moveTo>
                    <a:cubicBezTo>
                      <a:pt x="0" y="73914"/>
                      <a:pt x="73914" y="0"/>
                      <a:pt x="164973" y="0"/>
                    </a:cubicBezTo>
                    <a:lnTo>
                      <a:pt x="6123178" y="0"/>
                    </a:lnTo>
                    <a:cubicBezTo>
                      <a:pt x="6214364" y="0"/>
                      <a:pt x="6288151" y="73914"/>
                      <a:pt x="6288151" y="164973"/>
                    </a:cubicBezTo>
                    <a:lnTo>
                      <a:pt x="6288151" y="935101"/>
                    </a:lnTo>
                    <a:cubicBezTo>
                      <a:pt x="6288151" y="1026287"/>
                      <a:pt x="6214237" y="1100074"/>
                      <a:pt x="6123178" y="1100074"/>
                    </a:cubicBezTo>
                    <a:lnTo>
                      <a:pt x="164973" y="1100074"/>
                    </a:lnTo>
                    <a:cubicBezTo>
                      <a:pt x="73914" y="1100201"/>
                      <a:pt x="0" y="1026287"/>
                      <a:pt x="0" y="935101"/>
                    </a:cubicBezTo>
                    <a:close/>
                  </a:path>
                </a:pathLst>
              </a:custGeom>
              <a:solidFill>
                <a:srgbClr val="E4EBFA"/>
              </a:solidFill>
              <a:ln w="9525" cap="sq">
                <a:solidFill>
                  <a:srgbClr val="193EB0"/>
                </a:solidFill>
                <a:prstDash val="solid"/>
                <a:miter/>
              </a:ln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362927" y="114571"/>
              <a:ext cx="5238962" cy="284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0"/>
                </a:lnSpc>
              </a:pPr>
              <a:r>
                <a:rPr lang="en-US" sz="1308" b="true">
                  <a:solidFill>
                    <a:srgbClr val="193EB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Key Takeaway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62927" y="412106"/>
              <a:ext cx="5238962" cy="5606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42"/>
                </a:lnSpc>
              </a:pPr>
              <a:r>
                <a:rPr lang="en-US" sz="1028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Similar ROC-AUC scores can conceal substantial differences in precision–recall performance.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49190" y="231947"/>
            <a:ext cx="7764185" cy="7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Supervised Base models metrics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134" y="1174358"/>
            <a:ext cx="8314297" cy="313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1869" b="true">
                <a:solidFill>
                  <a:srgbClr val="193EB0"/>
                </a:solidFill>
                <a:latin typeface="Arimo Bold"/>
                <a:ea typeface="Arimo Bold"/>
                <a:cs typeface="Arimo Bold"/>
                <a:sym typeface="Arimo Bold"/>
              </a:rPr>
              <a:t>Validation Metrics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179" y="1501748"/>
            <a:ext cx="4056356" cy="194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2"/>
              </a:lnSpc>
            </a:pPr>
            <a:r>
              <a:rPr lang="en-US" sz="1028" b="true">
                <a:solidFill>
                  <a:srgbClr val="222222"/>
                </a:solidFill>
                <a:latin typeface="Arimo Bold"/>
                <a:ea typeface="Arimo Bold"/>
                <a:cs typeface="Arimo Bold"/>
                <a:sym typeface="Arimo Bold"/>
              </a:rPr>
              <a:t>Average Precision &amp; ROC-AUC (Validation)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853005" y="1536195"/>
            <a:ext cx="3832344" cy="194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2"/>
              </a:lnSpc>
            </a:pPr>
            <a:r>
              <a:rPr lang="en-US" sz="1028" b="true">
                <a:solidFill>
                  <a:srgbClr val="222222"/>
                </a:solidFill>
                <a:latin typeface="Arimo Bold"/>
                <a:ea typeface="Arimo Bold"/>
                <a:cs typeface="Arimo Bold"/>
                <a:sym typeface="Arimo Bold"/>
              </a:rPr>
              <a:t>Precision, Recall &amp; F1 at Best-F1 Threshold (Validation)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21892" y="1280460"/>
            <a:ext cx="4545000" cy="3500902"/>
            <a:chOff x="0" y="0"/>
            <a:chExt cx="5063592" cy="3900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63617" cy="3900297"/>
            </a:xfrm>
            <a:custGeom>
              <a:avLst/>
              <a:gdLst/>
              <a:ahLst/>
              <a:cxnLst/>
              <a:rect r="r" b="b" t="t" l="l"/>
              <a:pathLst>
                <a:path h="3900297" w="5063617">
                  <a:moveTo>
                    <a:pt x="0" y="0"/>
                  </a:moveTo>
                  <a:lnTo>
                    <a:pt x="5063617" y="0"/>
                  </a:lnTo>
                  <a:lnTo>
                    <a:pt x="5063617" y="3900297"/>
                  </a:lnTo>
                  <a:lnTo>
                    <a:pt x="0" y="39002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54" t="0" r="-1554" b="0"/>
              </a:stretch>
            </a:blipFill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21892" y="4781362"/>
          <a:ext cx="9641057" cy="1313776"/>
        </p:xfrm>
        <a:graphic>
          <a:graphicData uri="http://schemas.openxmlformats.org/drawingml/2006/table">
            <a:tbl>
              <a:tblPr/>
              <a:tblGrid>
                <a:gridCol w="2965796"/>
                <a:gridCol w="1730324"/>
                <a:gridCol w="1730324"/>
                <a:gridCol w="1730324"/>
                <a:gridCol w="1484288"/>
              </a:tblGrid>
              <a:tr h="4379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6"/>
                        </a:lnSpc>
                        <a:defRPr/>
                      </a:pPr>
                      <a:r>
                        <a:rPr lang="en-US" sz="1147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</a:t>
                      </a:r>
                      <a:endParaRPr lang="en-US" sz="1100"/>
                    </a:p>
                  </a:txBody>
                  <a:tcPr marL="53807" marR="53807" marT="53807" marB="53807" anchor="ctr">
                    <a:lnL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6"/>
                        </a:lnSpc>
                        <a:defRPr/>
                      </a:pPr>
                      <a:r>
                        <a:rPr lang="en-US" sz="1147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Accuracy</a:t>
                      </a:r>
                      <a:endParaRPr lang="en-US" sz="1100"/>
                    </a:p>
                  </a:txBody>
                  <a:tcPr marL="53807" marR="53807" marT="53807" marB="53807" anchor="ctr">
                    <a:lnL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6"/>
                        </a:lnSpc>
                        <a:defRPr/>
                      </a:pPr>
                      <a:r>
                        <a:rPr lang="en-US" sz="1147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Precision</a:t>
                      </a:r>
                      <a:endParaRPr lang="en-US" sz="1100"/>
                    </a:p>
                  </a:txBody>
                  <a:tcPr marL="53807" marR="53807" marT="53807" marB="53807" anchor="ctr">
                    <a:lnL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6"/>
                        </a:lnSpc>
                        <a:defRPr/>
                      </a:pPr>
                      <a:r>
                        <a:rPr lang="en-US" sz="1147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</a:t>
                      </a:r>
                      <a:endParaRPr lang="en-US" sz="1100"/>
                    </a:p>
                  </a:txBody>
                  <a:tcPr marL="53807" marR="53807" marT="53807" marB="53807" anchor="ctr">
                    <a:lnL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6"/>
                        </a:lnSpc>
                        <a:defRPr/>
                      </a:pPr>
                      <a:r>
                        <a:rPr lang="en-US" sz="1147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F1-Score</a:t>
                      </a:r>
                      <a:endParaRPr lang="en-US" sz="1100"/>
                    </a:p>
                  </a:txBody>
                  <a:tcPr marL="53807" marR="53807" marT="53807" marB="53807" anchor="ctr">
                    <a:lnL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79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376"/>
                        </a:lnSpc>
                        <a:defRPr/>
                      </a:pPr>
                      <a:r>
                        <a:rPr lang="en-US" sz="1147">
                          <a:solidFill>
                            <a:srgbClr val="1E276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Isolation Forest</a:t>
                      </a:r>
                      <a:endParaRPr lang="en-US" sz="1100"/>
                    </a:p>
                  </a:txBody>
                  <a:tcPr marL="53807" marR="53807" marT="53807" marB="53807" anchor="ctr">
                    <a:lnL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6"/>
                        </a:lnSpc>
                        <a:defRPr/>
                      </a:pPr>
                      <a:r>
                        <a:rPr lang="en-US" sz="1147">
                          <a:solidFill>
                            <a:srgbClr val="1E276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87.8%</a:t>
                      </a:r>
                      <a:endParaRPr lang="en-US" sz="1100"/>
                    </a:p>
                  </a:txBody>
                  <a:tcPr marL="53807" marR="53807" marT="53807" marB="53807" anchor="ctr">
                    <a:lnL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6"/>
                        </a:lnSpc>
                        <a:defRPr/>
                      </a:pPr>
                      <a:r>
                        <a:rPr lang="en-US" sz="1147">
                          <a:solidFill>
                            <a:srgbClr val="1E276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32%</a:t>
                      </a:r>
                      <a:endParaRPr lang="en-US" sz="1100"/>
                    </a:p>
                  </a:txBody>
                  <a:tcPr marL="53807" marR="53807" marT="53807" marB="53807" anchor="ctr">
                    <a:lnL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6"/>
                        </a:lnSpc>
                        <a:defRPr/>
                      </a:pPr>
                      <a:r>
                        <a:rPr lang="en-US" sz="1147">
                          <a:solidFill>
                            <a:srgbClr val="1E276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22%</a:t>
                      </a:r>
                      <a:endParaRPr lang="en-US" sz="1100"/>
                    </a:p>
                  </a:txBody>
                  <a:tcPr marL="53807" marR="53807" marT="53807" marB="53807" anchor="ctr">
                    <a:lnL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6"/>
                        </a:lnSpc>
                        <a:defRPr/>
                      </a:pPr>
                      <a:r>
                        <a:rPr lang="en-US" sz="1147">
                          <a:solidFill>
                            <a:srgbClr val="1E276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0.26%</a:t>
                      </a:r>
                      <a:endParaRPr lang="en-US" sz="1100"/>
                    </a:p>
                  </a:txBody>
                  <a:tcPr marL="53807" marR="53807" marT="53807" marB="53807" anchor="ctr">
                    <a:lnL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79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376"/>
                        </a:lnSpc>
                        <a:defRPr/>
                      </a:pPr>
                      <a:r>
                        <a:rPr lang="en-US" sz="1147">
                          <a:solidFill>
                            <a:srgbClr val="1E276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Auto Encoder</a:t>
                      </a:r>
                      <a:endParaRPr lang="en-US" sz="1100"/>
                    </a:p>
                  </a:txBody>
                  <a:tcPr marL="53807" marR="53807" marT="53807" marB="53807" anchor="ctr">
                    <a:lnL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6"/>
                        </a:lnSpc>
                        <a:defRPr/>
                      </a:pPr>
                      <a:r>
                        <a:rPr lang="en-US" sz="1147">
                          <a:solidFill>
                            <a:srgbClr val="1E276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89.6%</a:t>
                      </a:r>
                      <a:endParaRPr lang="en-US" sz="1100"/>
                    </a:p>
                  </a:txBody>
                  <a:tcPr marL="53807" marR="53807" marT="53807" marB="53807" anchor="ctr">
                    <a:lnL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6"/>
                        </a:lnSpc>
                        <a:defRPr/>
                      </a:pPr>
                      <a:r>
                        <a:rPr lang="en-US" sz="1147">
                          <a:solidFill>
                            <a:srgbClr val="1E276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45%</a:t>
                      </a:r>
                      <a:endParaRPr lang="en-US" sz="1100"/>
                    </a:p>
                  </a:txBody>
                  <a:tcPr marL="53807" marR="53807" marT="53807" marB="53807" anchor="ctr">
                    <a:lnL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6"/>
                        </a:lnSpc>
                        <a:defRPr/>
                      </a:pPr>
                      <a:r>
                        <a:rPr lang="en-US" sz="1147">
                          <a:solidFill>
                            <a:srgbClr val="1E276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41%</a:t>
                      </a:r>
                      <a:endParaRPr lang="en-US" sz="1100"/>
                    </a:p>
                  </a:txBody>
                  <a:tcPr marL="53807" marR="53807" marT="53807" marB="53807" anchor="ctr">
                    <a:lnL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76"/>
                        </a:lnSpc>
                        <a:defRPr/>
                      </a:pPr>
                      <a:r>
                        <a:rPr lang="en-US" sz="1147">
                          <a:solidFill>
                            <a:srgbClr val="1E276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45%</a:t>
                      </a:r>
                      <a:endParaRPr lang="en-US" sz="1100"/>
                    </a:p>
                  </a:txBody>
                  <a:tcPr marL="53807" marR="53807" marT="53807" marB="53807" anchor="ctr">
                    <a:lnL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5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</a:tbl>
          </a:graphicData>
        </a:graphic>
      </p:graphicFrame>
      <p:sp>
        <p:nvSpPr>
          <p:cNvPr name="Freeform 8" id="8"/>
          <p:cNvSpPr/>
          <p:nvPr/>
        </p:nvSpPr>
        <p:spPr>
          <a:xfrm flipH="false" flipV="false" rot="0">
            <a:off x="5110285" y="1280460"/>
            <a:ext cx="4530451" cy="3500902"/>
          </a:xfrm>
          <a:custGeom>
            <a:avLst/>
            <a:gdLst/>
            <a:ahLst/>
            <a:cxnLst/>
            <a:rect r="r" b="b" t="t" l="l"/>
            <a:pathLst>
              <a:path h="3500902" w="4530451">
                <a:moveTo>
                  <a:pt x="0" y="0"/>
                </a:moveTo>
                <a:lnTo>
                  <a:pt x="4530451" y="0"/>
                </a:lnTo>
                <a:lnTo>
                  <a:pt x="4530451" y="3500902"/>
                </a:lnTo>
                <a:lnTo>
                  <a:pt x="0" y="350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1" t="0" r="-1721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9190" y="231947"/>
            <a:ext cx="4475083" cy="7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Anomaly Detection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9190" y="231947"/>
            <a:ext cx="4623316" cy="7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Why Meta Learning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1339388"/>
            <a:ext cx="3238433" cy="2013187"/>
            <a:chOff x="0" y="0"/>
            <a:chExt cx="4317911" cy="268424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317911" cy="2684249"/>
              <a:chOff x="0" y="0"/>
              <a:chExt cx="6846113" cy="425591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846062" cy="4255930"/>
              </a:xfrm>
              <a:custGeom>
                <a:avLst/>
                <a:gdLst/>
                <a:ahLst/>
                <a:cxnLst/>
                <a:rect r="r" b="b" t="t" l="l"/>
                <a:pathLst>
                  <a:path h="4255930" w="6846062">
                    <a:moveTo>
                      <a:pt x="0" y="0"/>
                    </a:moveTo>
                    <a:lnTo>
                      <a:pt x="6846062" y="0"/>
                    </a:lnTo>
                    <a:lnTo>
                      <a:pt x="6846062" y="4255930"/>
                    </a:lnTo>
                    <a:lnTo>
                      <a:pt x="0" y="4255930"/>
                    </a:lnTo>
                    <a:close/>
                  </a:path>
                </a:pathLst>
              </a:custGeom>
              <a:solidFill>
                <a:srgbClr val="F7F7F7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387604" y="72856"/>
              <a:ext cx="3696606" cy="33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08"/>
                </a:lnSpc>
              </a:pPr>
              <a:r>
                <a:rPr lang="en-US" sz="1537" b="true">
                  <a:solidFill>
                    <a:srgbClr val="11111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Conventional learning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87604" y="497698"/>
              <a:ext cx="3696606" cy="625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43"/>
                </a:lnSpc>
              </a:pPr>
              <a:r>
                <a:rPr lang="en-US" sz="1221">
                  <a:solidFill>
                    <a:srgbClr val="111111"/>
                  </a:solidFill>
                  <a:latin typeface="Arimo"/>
                  <a:ea typeface="Arimo"/>
                  <a:cs typeface="Arimo"/>
                  <a:sym typeface="Arimo"/>
                </a:rPr>
                <a:t>Trains on labeled examples to find a decision boundary for known patterns.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87604" y="1422436"/>
              <a:ext cx="3696606" cy="33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08"/>
                </a:lnSpc>
              </a:pPr>
              <a:r>
                <a:rPr lang="en-US" sz="1537" b="true">
                  <a:solidFill>
                    <a:srgbClr val="11111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The dilemma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87604" y="1847271"/>
              <a:ext cx="3696606" cy="625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43"/>
                </a:lnSpc>
              </a:pPr>
              <a:r>
                <a:rPr lang="en-US" sz="1221">
                  <a:solidFill>
                    <a:srgbClr val="111111"/>
                  </a:solidFill>
                  <a:latin typeface="Arimo"/>
                  <a:ea typeface="Arimo"/>
                  <a:cs typeface="Arimo"/>
                  <a:sym typeface="Arimo"/>
                </a:rPr>
                <a:t>A new pattern appears with only a few labeled examples.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353242" y="1350724"/>
            <a:ext cx="3238529" cy="2012087"/>
            <a:chOff x="0" y="0"/>
            <a:chExt cx="4318039" cy="2682783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4318039" cy="2682783"/>
              <a:chOff x="0" y="0"/>
              <a:chExt cx="6846316" cy="425359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846316" cy="4253605"/>
              </a:xfrm>
              <a:custGeom>
                <a:avLst/>
                <a:gdLst/>
                <a:ahLst/>
                <a:cxnLst/>
                <a:rect r="r" b="b" t="t" l="l"/>
                <a:pathLst>
                  <a:path h="4253605" w="6846316">
                    <a:moveTo>
                      <a:pt x="0" y="0"/>
                    </a:moveTo>
                    <a:lnTo>
                      <a:pt x="6846316" y="0"/>
                    </a:lnTo>
                    <a:lnTo>
                      <a:pt x="6846316" y="4253605"/>
                    </a:lnTo>
                    <a:lnTo>
                      <a:pt x="0" y="4253605"/>
                    </a:lnTo>
                    <a:close/>
                  </a:path>
                </a:pathLst>
              </a:custGeom>
              <a:solidFill>
                <a:srgbClr val="F7F7F7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325082" y="89746"/>
              <a:ext cx="3992957" cy="346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3"/>
                </a:lnSpc>
              </a:pPr>
              <a:r>
                <a:rPr lang="en-US" sz="1661" b="true">
                  <a:solidFill>
                    <a:srgbClr val="11111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What is meta-learning?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25082" y="532084"/>
              <a:ext cx="3992957" cy="14971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3"/>
                </a:lnSpc>
              </a:pPr>
              <a:r>
                <a:rPr lang="en-US" sz="1319" b="true">
                  <a:solidFill>
                    <a:srgbClr val="11111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“Learning to learn”</a:t>
              </a:r>
            </a:p>
            <a:p>
              <a:pPr algn="l">
                <a:lnSpc>
                  <a:spcPts val="1883"/>
                </a:lnSpc>
              </a:pPr>
              <a:r>
                <a:rPr lang="en-US" sz="1319">
                  <a:solidFill>
                    <a:srgbClr val="111111"/>
                  </a:solidFill>
                  <a:latin typeface="Arimo"/>
                  <a:ea typeface="Arimo"/>
                  <a:cs typeface="Arimo"/>
                  <a:sym typeface="Arimo"/>
                </a:rPr>
                <a:t>A model acquires knowledge from many tasks, so it can adapt quickly to a new task from a few examples.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688175" y="1362060"/>
            <a:ext cx="3201985" cy="1980632"/>
            <a:chOff x="0" y="0"/>
            <a:chExt cx="4269313" cy="2640842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4269313" cy="2640842"/>
              <a:chOff x="0" y="0"/>
              <a:chExt cx="6846316" cy="423488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846316" cy="4234895"/>
              </a:xfrm>
              <a:custGeom>
                <a:avLst/>
                <a:gdLst/>
                <a:ahLst/>
                <a:cxnLst/>
                <a:rect r="r" b="b" t="t" l="l"/>
                <a:pathLst>
                  <a:path h="4234895" w="6846316">
                    <a:moveTo>
                      <a:pt x="0" y="0"/>
                    </a:moveTo>
                    <a:lnTo>
                      <a:pt x="6846316" y="0"/>
                    </a:lnTo>
                    <a:lnTo>
                      <a:pt x="6846316" y="4234895"/>
                    </a:lnTo>
                    <a:lnTo>
                      <a:pt x="0" y="4234895"/>
                    </a:lnTo>
                    <a:close/>
                  </a:path>
                </a:pathLst>
              </a:custGeom>
              <a:solidFill>
                <a:srgbClr val="F7F7F7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221916" y="85582"/>
              <a:ext cx="3825474" cy="320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1"/>
                </a:lnSpc>
              </a:pPr>
              <a:r>
                <a:rPr lang="en-US" sz="1591" b="true">
                  <a:solidFill>
                    <a:srgbClr val="11111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Why it helps fraud detection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21916" y="496218"/>
              <a:ext cx="3825474" cy="1967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28888" indent="-114444" lvl="1">
                <a:lnSpc>
                  <a:spcPts val="1804"/>
                </a:lnSpc>
                <a:buFont typeface="Arial"/>
                <a:buChar char="•"/>
              </a:pPr>
              <a:r>
                <a:rPr lang="en-US" sz="1263">
                  <a:solidFill>
                    <a:srgbClr val="111111"/>
                  </a:solidFill>
                  <a:latin typeface="Arimo"/>
                  <a:ea typeface="Arimo"/>
                  <a:cs typeface="Arimo"/>
                  <a:sym typeface="Arimo"/>
                </a:rPr>
                <a:t>New patterns emerge with very few labels.</a:t>
              </a:r>
            </a:p>
            <a:p>
              <a:pPr algn="l" marL="228888" indent="-114444" lvl="1">
                <a:lnSpc>
                  <a:spcPts val="1804"/>
                </a:lnSpc>
                <a:buFont typeface="Arial"/>
                <a:buChar char="•"/>
              </a:pPr>
              <a:r>
                <a:rPr lang="en-US" sz="1263">
                  <a:solidFill>
                    <a:srgbClr val="111111"/>
                  </a:solidFill>
                  <a:latin typeface="Arimo"/>
                  <a:ea typeface="Arimo"/>
                  <a:cs typeface="Arimo"/>
                  <a:sym typeface="Arimo"/>
                </a:rPr>
                <a:t>Labeling large datasets for each pattern is costly.</a:t>
              </a:r>
            </a:p>
            <a:p>
              <a:pPr algn="l" marL="228888" indent="-114444" lvl="1">
                <a:lnSpc>
                  <a:spcPts val="1804"/>
                </a:lnSpc>
                <a:buFont typeface="Arial"/>
                <a:buChar char="•"/>
              </a:pPr>
              <a:r>
                <a:rPr lang="en-US" sz="1263">
                  <a:solidFill>
                    <a:srgbClr val="111111"/>
                  </a:solidFill>
                  <a:latin typeface="Arimo"/>
                  <a:ea typeface="Arimo"/>
                  <a:cs typeface="Arimo"/>
                  <a:sym typeface="Arimo"/>
                </a:rPr>
                <a:t>Adapting from few examples helps catch unseen fraud.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3962" y="3584939"/>
            <a:ext cx="9761555" cy="23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6"/>
              </a:lnSpc>
            </a:pPr>
            <a:r>
              <a:rPr lang="en-US" b="true" sz="1484" u="sng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Intuition: conventional learning vs. meta-learning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3962" y="3942559"/>
            <a:ext cx="9816198" cy="1677606"/>
            <a:chOff x="0" y="0"/>
            <a:chExt cx="22494132" cy="3844288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22494106" cy="3844225"/>
            </a:xfrm>
            <a:custGeom>
              <a:avLst/>
              <a:gdLst/>
              <a:ahLst/>
              <a:cxnLst/>
              <a:rect r="r" b="b" t="t" l="l"/>
              <a:pathLst>
                <a:path h="3844225" w="22494106">
                  <a:moveTo>
                    <a:pt x="0" y="0"/>
                  </a:moveTo>
                  <a:lnTo>
                    <a:pt x="22494106" y="0"/>
                  </a:lnTo>
                  <a:lnTo>
                    <a:pt x="22494106" y="3844225"/>
                  </a:lnTo>
                  <a:lnTo>
                    <a:pt x="0" y="3844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9" t="0" r="-159" b="-1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9190" y="231947"/>
            <a:ext cx="2874764" cy="7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TabPFN 3.5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9056" y="1356720"/>
            <a:ext cx="5880466" cy="2837697"/>
            <a:chOff x="0" y="0"/>
            <a:chExt cx="7840622" cy="378359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7840622" cy="3184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28"/>
                </a:lnSpc>
              </a:pPr>
              <a:r>
                <a:rPr lang="en-US" sz="1554">
                  <a:solidFill>
                    <a:srgbClr val="111111"/>
                  </a:solidFill>
                  <a:latin typeface="Arimo"/>
                  <a:ea typeface="Arimo"/>
                  <a:cs typeface="Arimo"/>
                  <a:sym typeface="Arimo"/>
                </a:rPr>
                <a:t>How it works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0" y="475003"/>
              <a:ext cx="392759" cy="392766"/>
              <a:chOff x="0" y="0"/>
              <a:chExt cx="644817" cy="644830"/>
            </a:xfrm>
          </p:grpSpPr>
          <p:sp>
            <p:nvSpPr>
              <p:cNvPr name="Freeform 10" id="10" descr="preencoded.png"/>
              <p:cNvSpPr/>
              <p:nvPr/>
            </p:nvSpPr>
            <p:spPr>
              <a:xfrm flipH="false" flipV="false" rot="0">
                <a:off x="0" y="0"/>
                <a:ext cx="644779" cy="644779"/>
              </a:xfrm>
              <a:custGeom>
                <a:avLst/>
                <a:gdLst/>
                <a:ahLst/>
                <a:cxnLst/>
                <a:rect r="r" b="b" t="t" l="l"/>
                <a:pathLst>
                  <a:path h="644779" w="644779">
                    <a:moveTo>
                      <a:pt x="0" y="0"/>
                    </a:moveTo>
                    <a:lnTo>
                      <a:pt x="644779" y="0"/>
                    </a:lnTo>
                    <a:lnTo>
                      <a:pt x="644779" y="644779"/>
                    </a:lnTo>
                    <a:lnTo>
                      <a:pt x="0" y="6447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1" t="0" r="-6" b="-7"/>
                </a:stretch>
              </a:blip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589196" y="446444"/>
              <a:ext cx="6694039" cy="669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7"/>
                </a:lnSpc>
              </a:pPr>
              <a:r>
                <a:rPr lang="en-US" sz="1142" b="true">
                  <a:solidFill>
                    <a:srgbClr val="11111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Labeled examples</a:t>
              </a:r>
            </a:p>
            <a:p>
              <a:pPr algn="l">
                <a:lnSpc>
                  <a:spcPts val="1577"/>
                </a:lnSpc>
              </a:pPr>
              <a:r>
                <a:rPr lang="en-US" sz="1142">
                  <a:solidFill>
                    <a:srgbClr val="111111"/>
                  </a:solidFill>
                  <a:latin typeface="Arimo"/>
                  <a:ea typeface="Arimo"/>
                  <a:cs typeface="Arimo"/>
                  <a:sym typeface="Arimo"/>
                </a:rPr>
                <a:t>Receives a small set of transactions with known labels.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0" y="1673020"/>
              <a:ext cx="392759" cy="392766"/>
              <a:chOff x="0" y="0"/>
              <a:chExt cx="644817" cy="644830"/>
            </a:xfrm>
          </p:grpSpPr>
          <p:sp>
            <p:nvSpPr>
              <p:cNvPr name="Freeform 13" id="13" descr="preencoded.png"/>
              <p:cNvSpPr/>
              <p:nvPr/>
            </p:nvSpPr>
            <p:spPr>
              <a:xfrm flipH="false" flipV="false" rot="0">
                <a:off x="0" y="0"/>
                <a:ext cx="644779" cy="644779"/>
              </a:xfrm>
              <a:custGeom>
                <a:avLst/>
                <a:gdLst/>
                <a:ahLst/>
                <a:cxnLst/>
                <a:rect r="r" b="b" t="t" l="l"/>
                <a:pathLst>
                  <a:path h="644779" w="644779">
                    <a:moveTo>
                      <a:pt x="0" y="0"/>
                    </a:moveTo>
                    <a:lnTo>
                      <a:pt x="644779" y="0"/>
                    </a:lnTo>
                    <a:lnTo>
                      <a:pt x="644779" y="644779"/>
                    </a:lnTo>
                    <a:lnTo>
                      <a:pt x="0" y="6447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1" t="0" r="-6" b="-7"/>
                </a:stretch>
              </a:blip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589196" y="1644461"/>
              <a:ext cx="6694039" cy="9411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7"/>
                </a:lnSpc>
              </a:pPr>
              <a:r>
                <a:rPr lang="en-US" sz="1142" b="true">
                  <a:solidFill>
                    <a:srgbClr val="11111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In-context learning</a:t>
              </a:r>
            </a:p>
            <a:p>
              <a:pPr algn="l">
                <a:lnSpc>
                  <a:spcPts val="1577"/>
                </a:lnSpc>
              </a:pPr>
              <a:r>
                <a:rPr lang="en-US" sz="1142">
                  <a:solidFill>
                    <a:srgbClr val="111111"/>
                  </a:solidFill>
                  <a:latin typeface="Arimo"/>
                  <a:ea typeface="Arimo"/>
                  <a:cs typeface="Arimo"/>
                  <a:sym typeface="Arimo"/>
                </a:rPr>
                <a:t>Uses the examples as context to make predictions without conventional task-specific fitting.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0" y="3142966"/>
              <a:ext cx="392759" cy="392766"/>
              <a:chOff x="0" y="0"/>
              <a:chExt cx="644817" cy="644830"/>
            </a:xfrm>
          </p:grpSpPr>
          <p:sp>
            <p:nvSpPr>
              <p:cNvPr name="Freeform 16" id="16" descr="preencoded.png"/>
              <p:cNvSpPr/>
              <p:nvPr/>
            </p:nvSpPr>
            <p:spPr>
              <a:xfrm flipH="false" flipV="false" rot="0">
                <a:off x="0" y="0"/>
                <a:ext cx="644779" cy="644779"/>
              </a:xfrm>
              <a:custGeom>
                <a:avLst/>
                <a:gdLst/>
                <a:ahLst/>
                <a:cxnLst/>
                <a:rect r="r" b="b" t="t" l="l"/>
                <a:pathLst>
                  <a:path h="644779" w="644779">
                    <a:moveTo>
                      <a:pt x="0" y="0"/>
                    </a:moveTo>
                    <a:lnTo>
                      <a:pt x="644779" y="0"/>
                    </a:lnTo>
                    <a:lnTo>
                      <a:pt x="644779" y="644779"/>
                    </a:lnTo>
                    <a:lnTo>
                      <a:pt x="0" y="6447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" t="0" r="-6" b="-7"/>
                </a:stretch>
              </a:blip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589196" y="3114399"/>
              <a:ext cx="6694039" cy="669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7"/>
                </a:lnSpc>
              </a:pPr>
              <a:r>
                <a:rPr lang="en-US" sz="1142" b="true">
                  <a:solidFill>
                    <a:srgbClr val="11111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Predictions</a:t>
              </a:r>
            </a:p>
            <a:p>
              <a:pPr algn="l">
                <a:lnSpc>
                  <a:spcPts val="1577"/>
                </a:lnSpc>
              </a:pPr>
              <a:r>
                <a:rPr lang="en-US" sz="1142">
                  <a:solidFill>
                    <a:srgbClr val="111111"/>
                  </a:solidFill>
                  <a:latin typeface="Arimo"/>
                  <a:ea typeface="Arimo"/>
                  <a:cs typeface="Arimo"/>
                  <a:sym typeface="Arimo"/>
                </a:rPr>
                <a:t>Classifies new transactions based on the supplied context.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73648" y="1356720"/>
            <a:ext cx="3108519" cy="2710729"/>
            <a:chOff x="0" y="0"/>
            <a:chExt cx="7666482" cy="668542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7666482" cy="6685407"/>
            </a:xfrm>
            <a:custGeom>
              <a:avLst/>
              <a:gdLst/>
              <a:ahLst/>
              <a:cxnLst/>
              <a:rect r="r" b="b" t="t" l="l"/>
              <a:pathLst>
                <a:path h="6685407" w="7666482">
                  <a:moveTo>
                    <a:pt x="0" y="0"/>
                  </a:moveTo>
                  <a:lnTo>
                    <a:pt x="7666482" y="0"/>
                  </a:lnTo>
                  <a:lnTo>
                    <a:pt x="7666482" y="6685407"/>
                  </a:lnTo>
                  <a:lnTo>
                    <a:pt x="0" y="6685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3" t="0" r="-63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0" y="4356342"/>
            <a:ext cx="9894432" cy="1181274"/>
            <a:chOff x="0" y="0"/>
            <a:chExt cx="24402453" cy="29133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02414" cy="2913380"/>
            </a:xfrm>
            <a:custGeom>
              <a:avLst/>
              <a:gdLst/>
              <a:ahLst/>
              <a:cxnLst/>
              <a:rect r="r" b="b" t="t" l="l"/>
              <a:pathLst>
                <a:path h="291338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913380"/>
                  </a:lnTo>
                  <a:lnTo>
                    <a:pt x="0" y="29133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412270" y="4470502"/>
            <a:ext cx="9069897" cy="262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5"/>
              </a:lnSpc>
            </a:pPr>
            <a:r>
              <a:rPr lang="en-US" sz="167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Why we chose it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2270" y="4748614"/>
            <a:ext cx="9482167" cy="51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1"/>
              </a:lnSpc>
            </a:pPr>
            <a:r>
              <a:rPr lang="en-US" sz="141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Its in-context learning approach makes it a candidate for testing whether a model can recognize a new fraud pattern from only a handful of labeled examples.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6510575" y="3992176"/>
            <a:ext cx="3379585" cy="2180024"/>
            <a:chOff x="0" y="0"/>
            <a:chExt cx="6687631" cy="4313901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6687644" cy="4313888"/>
            </a:xfrm>
            <a:custGeom>
              <a:avLst/>
              <a:gdLst/>
              <a:ahLst/>
              <a:cxnLst/>
              <a:rect r="r" b="b" t="t" l="l"/>
              <a:pathLst>
                <a:path h="4313888" w="6687644">
                  <a:moveTo>
                    <a:pt x="0" y="0"/>
                  </a:moveTo>
                  <a:lnTo>
                    <a:pt x="6687644" y="0"/>
                  </a:lnTo>
                  <a:lnTo>
                    <a:pt x="6687644" y="4313888"/>
                  </a:lnTo>
                  <a:lnTo>
                    <a:pt x="0" y="4313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045" t="0" r="-304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546409" y="1197292"/>
            <a:ext cx="3538273" cy="2923960"/>
            <a:chOff x="0" y="0"/>
            <a:chExt cx="5044481" cy="416866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5044440" cy="4168648"/>
            </a:xfrm>
            <a:custGeom>
              <a:avLst/>
              <a:gdLst/>
              <a:ahLst/>
              <a:cxnLst/>
              <a:rect r="r" b="b" t="t" l="l"/>
              <a:pathLst>
                <a:path h="4168648" w="5044440">
                  <a:moveTo>
                    <a:pt x="0" y="0"/>
                  </a:moveTo>
                  <a:lnTo>
                    <a:pt x="5044440" y="0"/>
                  </a:lnTo>
                  <a:lnTo>
                    <a:pt x="5044440" y="4168648"/>
                  </a:lnTo>
                  <a:lnTo>
                    <a:pt x="0" y="4168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211" r="0" b="-321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9190" y="231947"/>
            <a:ext cx="5986820" cy="7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Results on yearly dataset</a:t>
            </a:r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0" y="1197292"/>
          <a:ext cx="6510575" cy="4897846"/>
        </p:xfrm>
        <a:graphic>
          <a:graphicData uri="http://schemas.openxmlformats.org/drawingml/2006/table">
            <a:tbl>
              <a:tblPr/>
              <a:tblGrid>
                <a:gridCol w="1392908"/>
                <a:gridCol w="1392908"/>
                <a:gridCol w="1392908"/>
                <a:gridCol w="1392908"/>
                <a:gridCol w="938941"/>
              </a:tblGrid>
              <a:tr h="4103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Model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Accuracy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EA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Precision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EA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Recall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EAE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F1-Score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EAE0"/>
                    </a:solidFill>
                  </a:tcPr>
                </a:tc>
              </a:tr>
              <a:tr h="6203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Logistic Regression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99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92.84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65.3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55.71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60.13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99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3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Random Forest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99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95.85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3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XGBoost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99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95.62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3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Isolation Forest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99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87.82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31.58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22.05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25.97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3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Autoencoder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99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90.2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49.28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41.21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44.88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5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TabPFN 5-shot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99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94.31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66.76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82.19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73.67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91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TabPFN 10-shot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99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95.79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74.14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86.76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79.96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01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TabPFN 35-shot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99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96.17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75.18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90.26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82.03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6748424" y="1440172"/>
            <a:ext cx="3035164" cy="771528"/>
            <a:chOff x="0" y="0"/>
            <a:chExt cx="7019566" cy="17843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19617" cy="1784350"/>
            </a:xfrm>
            <a:custGeom>
              <a:avLst/>
              <a:gdLst/>
              <a:ahLst/>
              <a:cxnLst/>
              <a:rect r="r" b="b" t="t" l="l"/>
              <a:pathLst>
                <a:path h="1784350" w="7019617">
                  <a:moveTo>
                    <a:pt x="0" y="0"/>
                  </a:moveTo>
                  <a:lnTo>
                    <a:pt x="7019617" y="0"/>
                  </a:lnTo>
                  <a:lnTo>
                    <a:pt x="7019617" y="1784350"/>
                  </a:lnTo>
                  <a:lnTo>
                    <a:pt x="0" y="1784350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343513" y="2354576"/>
            <a:ext cx="3165386" cy="771528"/>
            <a:chOff x="0" y="0"/>
            <a:chExt cx="4220514" cy="102870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220514" cy="1028704"/>
              <a:chOff x="0" y="0"/>
              <a:chExt cx="7320737" cy="178435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320788" cy="1784350"/>
              </a:xfrm>
              <a:custGeom>
                <a:avLst/>
                <a:gdLst/>
                <a:ahLst/>
                <a:cxnLst/>
                <a:rect r="r" b="b" t="t" l="l"/>
                <a:pathLst>
                  <a:path h="1784350" w="7320788">
                    <a:moveTo>
                      <a:pt x="0" y="0"/>
                    </a:moveTo>
                    <a:lnTo>
                      <a:pt x="7320788" y="0"/>
                    </a:lnTo>
                    <a:lnTo>
                      <a:pt x="7320788" y="1784350"/>
                    </a:lnTo>
                    <a:lnTo>
                      <a:pt x="0" y="1784350"/>
                    </a:lnTo>
                    <a:close/>
                  </a:path>
                </a:pathLst>
              </a:custGeom>
              <a:solidFill>
                <a:srgbClr val="F7F8FA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205162" y="165602"/>
              <a:ext cx="841839" cy="229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65"/>
                </a:lnSpc>
              </a:pPr>
              <a:r>
                <a:rPr lang="en-US" sz="1471">
                  <a:solidFill>
                    <a:srgbClr val="171717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205162" y="422774"/>
              <a:ext cx="3810182" cy="465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13"/>
                </a:lnSpc>
              </a:pPr>
              <a:r>
                <a:rPr lang="en-US" sz="995">
                  <a:solidFill>
                    <a:srgbClr val="171717"/>
                  </a:solidFill>
                  <a:latin typeface="Arimo"/>
                  <a:ea typeface="Arimo"/>
                  <a:cs typeface="Arimo"/>
                  <a:sym typeface="Arimo"/>
                </a:rPr>
                <a:t>TabPFN 3.5 outperformed other models on the support dataset.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53636" y="3315220"/>
            <a:ext cx="3165386" cy="771528"/>
            <a:chOff x="0" y="0"/>
            <a:chExt cx="4220514" cy="1028704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220514" cy="1028704"/>
              <a:chOff x="0" y="0"/>
              <a:chExt cx="7320737" cy="178435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320788" cy="1784350"/>
              </a:xfrm>
              <a:custGeom>
                <a:avLst/>
                <a:gdLst/>
                <a:ahLst/>
                <a:cxnLst/>
                <a:rect r="r" b="b" t="t" l="l"/>
                <a:pathLst>
                  <a:path h="1784350" w="7320788">
                    <a:moveTo>
                      <a:pt x="0" y="0"/>
                    </a:moveTo>
                    <a:lnTo>
                      <a:pt x="7320788" y="0"/>
                    </a:lnTo>
                    <a:lnTo>
                      <a:pt x="7320788" y="1784350"/>
                    </a:lnTo>
                    <a:lnTo>
                      <a:pt x="0" y="1784350"/>
                    </a:lnTo>
                    <a:close/>
                  </a:path>
                </a:pathLst>
              </a:custGeom>
              <a:solidFill>
                <a:srgbClr val="F7F8FA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205162" y="165602"/>
              <a:ext cx="841839" cy="229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65"/>
                </a:lnSpc>
              </a:pPr>
              <a:r>
                <a:rPr lang="en-US" sz="1471">
                  <a:solidFill>
                    <a:srgbClr val="171717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05162" y="422774"/>
              <a:ext cx="3810182" cy="465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13"/>
                </a:lnSpc>
              </a:pPr>
              <a:r>
                <a:rPr lang="en-US" sz="995">
                  <a:solidFill>
                    <a:srgbClr val="171717"/>
                  </a:solidFill>
                  <a:latin typeface="Arimo"/>
                  <a:ea typeface="Arimo"/>
                  <a:cs typeface="Arimo"/>
                  <a:sym typeface="Arimo"/>
                </a:rPr>
                <a:t>Classical classifiers and anomaly detection were limited with very few labels.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9190" y="231947"/>
            <a:ext cx="7587139" cy="7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3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Results on Multi-Pattern dataset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19535" y="1221105"/>
            <a:ext cx="9759938" cy="18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1168" b="true">
                <a:solidFill>
                  <a:srgbClr val="171717"/>
                </a:solidFill>
                <a:latin typeface="Arimo Bold"/>
                <a:ea typeface="Arimo Bold"/>
                <a:cs typeface="Arimo Bold"/>
                <a:sym typeface="Arimo Bold"/>
              </a:rPr>
              <a:t>Key takeaways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343513" y="1547887"/>
            <a:ext cx="2857637" cy="556099"/>
            <a:chOff x="0" y="0"/>
            <a:chExt cx="3810182" cy="741465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19050"/>
              <a:ext cx="841839" cy="2298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65"/>
                </a:lnSpc>
              </a:pPr>
              <a:r>
                <a:rPr lang="en-US" sz="1471">
                  <a:solidFill>
                    <a:srgbClr val="171717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276222"/>
              <a:ext cx="3810182" cy="465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13"/>
                </a:lnSpc>
              </a:pPr>
              <a:r>
                <a:rPr lang="en-US" sz="995">
                  <a:solidFill>
                    <a:srgbClr val="171717"/>
                  </a:solidFill>
                  <a:latin typeface="Arimo"/>
                  <a:ea typeface="Arimo"/>
                  <a:cs typeface="Arimo"/>
                  <a:sym typeface="Arimo"/>
                </a:rPr>
                <a:t>XGBoost performed best on the main dataset, with strong results on future transactions.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34365" y="5280132"/>
            <a:ext cx="4462317" cy="949194"/>
            <a:chOff x="0" y="0"/>
            <a:chExt cx="5949756" cy="1265592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279428"/>
              <a:ext cx="5949756" cy="9861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64584" indent="-82292" lvl="1">
                <a:lnSpc>
                  <a:spcPts val="1199"/>
                </a:lnSpc>
                <a:buFont typeface="Arial"/>
                <a:buChar char="•"/>
              </a:pPr>
              <a:r>
                <a:rPr lang="en-US" sz="908">
                  <a:solidFill>
                    <a:srgbClr val="171717"/>
                  </a:solidFill>
                  <a:latin typeface="Arimo"/>
                  <a:ea typeface="Arimo"/>
                  <a:cs typeface="Arimo"/>
                  <a:sym typeface="Arimo"/>
                </a:rPr>
                <a:t>Two datasets only; real-world generalization is not guaranteed.</a:t>
              </a:r>
            </a:p>
            <a:p>
              <a:pPr algn="l" marL="164584" indent="-82292" lvl="1">
                <a:lnSpc>
                  <a:spcPts val="1199"/>
                </a:lnSpc>
                <a:buFont typeface="Arial"/>
                <a:buChar char="•"/>
              </a:pPr>
              <a:r>
                <a:rPr lang="en-US" sz="908">
                  <a:solidFill>
                    <a:srgbClr val="171717"/>
                  </a:solidFill>
                  <a:latin typeface="Arimo"/>
                  <a:ea typeface="Arimo"/>
                  <a:cs typeface="Arimo"/>
                  <a:sym typeface="Arimo"/>
                </a:rPr>
                <a:t>Results depend on the few labeled examples available.</a:t>
              </a:r>
            </a:p>
            <a:p>
              <a:pPr algn="l" marL="164584" indent="-82292" lvl="1">
                <a:lnSpc>
                  <a:spcPts val="1199"/>
                </a:lnSpc>
                <a:buFont typeface="Arial"/>
                <a:buChar char="•"/>
              </a:pPr>
              <a:r>
                <a:rPr lang="en-US" sz="908">
                  <a:solidFill>
                    <a:srgbClr val="171717"/>
                  </a:solidFill>
                  <a:latin typeface="Arimo"/>
                  <a:ea typeface="Arimo"/>
                  <a:cs typeface="Arimo"/>
                  <a:sym typeface="Arimo"/>
                </a:rPr>
                <a:t>Anomaly detection showed higher false positive rates.</a:t>
              </a:r>
            </a:p>
            <a:p>
              <a:pPr algn="l" marL="164584" indent="-82292" lvl="1">
                <a:lnSpc>
                  <a:spcPts val="1199"/>
                </a:lnSpc>
                <a:buFont typeface="Arial"/>
                <a:buChar char="•"/>
              </a:pPr>
              <a:r>
                <a:rPr lang="en-US" sz="908">
                  <a:solidFill>
                    <a:srgbClr val="171717"/>
                  </a:solidFill>
                  <a:latin typeface="Arimo"/>
                  <a:ea typeface="Arimo"/>
                  <a:cs typeface="Arimo"/>
                  <a:sym typeface="Arimo"/>
                </a:rPr>
                <a:t>More testing is needed across fraud patterns and periods.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-9525"/>
              <a:ext cx="5949756" cy="2183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21"/>
                </a:lnSpc>
              </a:pPr>
              <a:r>
                <a:rPr lang="en-US" sz="1038" b="true">
                  <a:solidFill>
                    <a:srgbClr val="17171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Limitations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34365" y="4229623"/>
            <a:ext cx="4462317" cy="949194"/>
            <a:chOff x="0" y="0"/>
            <a:chExt cx="5949756" cy="1265592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9525"/>
              <a:ext cx="5949756" cy="2183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21"/>
                </a:lnSpc>
              </a:pPr>
              <a:r>
                <a:rPr lang="en-US" sz="1038" b="true">
                  <a:solidFill>
                    <a:srgbClr val="17171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Future Work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279428"/>
              <a:ext cx="5949756" cy="9861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64584" indent="-82292" lvl="1">
                <a:lnSpc>
                  <a:spcPts val="1199"/>
                </a:lnSpc>
                <a:buFont typeface="Arial"/>
                <a:buChar char="•"/>
              </a:pPr>
              <a:r>
                <a:rPr lang="en-US" sz="908">
                  <a:solidFill>
                    <a:srgbClr val="171717"/>
                  </a:solidFill>
                  <a:latin typeface="Arimo"/>
                  <a:ea typeface="Arimo"/>
                  <a:cs typeface="Arimo"/>
                  <a:sym typeface="Arimo"/>
                </a:rPr>
                <a:t>Evaluate on additional real-world datasets.</a:t>
              </a:r>
            </a:p>
            <a:p>
              <a:pPr algn="l" marL="164584" indent="-82292" lvl="1">
                <a:lnSpc>
                  <a:spcPts val="1199"/>
                </a:lnSpc>
                <a:buFont typeface="Arial"/>
                <a:buChar char="•"/>
              </a:pPr>
              <a:r>
                <a:rPr lang="en-US" sz="908">
                  <a:solidFill>
                    <a:srgbClr val="171717"/>
                  </a:solidFill>
                  <a:latin typeface="Arimo"/>
                  <a:ea typeface="Arimo"/>
                  <a:cs typeface="Arimo"/>
                  <a:sym typeface="Arimo"/>
                </a:rPr>
                <a:t>Test stronger few-shot and meta-learning methods.</a:t>
              </a:r>
            </a:p>
            <a:p>
              <a:pPr algn="l" marL="164584" indent="-82292" lvl="1">
                <a:lnSpc>
                  <a:spcPts val="1199"/>
                </a:lnSpc>
                <a:buFont typeface="Arial"/>
                <a:buChar char="•"/>
              </a:pPr>
              <a:r>
                <a:rPr lang="en-US" sz="908">
                  <a:solidFill>
                    <a:srgbClr val="171717"/>
                  </a:solidFill>
                  <a:latin typeface="Arimo"/>
                  <a:ea typeface="Arimo"/>
                  <a:cs typeface="Arimo"/>
                  <a:sym typeface="Arimo"/>
                </a:rPr>
                <a:t>Explore TabPFN combined with anomaly detection.</a:t>
              </a:r>
            </a:p>
            <a:p>
              <a:pPr algn="l" marL="164584" indent="-82292" lvl="1">
                <a:lnSpc>
                  <a:spcPts val="1199"/>
                </a:lnSpc>
                <a:buFont typeface="Arial"/>
                <a:buChar char="•"/>
              </a:pPr>
              <a:r>
                <a:rPr lang="en-US" sz="908">
                  <a:solidFill>
                    <a:srgbClr val="171717"/>
                  </a:solidFill>
                  <a:latin typeface="Arimo"/>
                  <a:ea typeface="Arimo"/>
                  <a:cs typeface="Arimo"/>
                  <a:sym typeface="Arimo"/>
                </a:rPr>
                <a:t>Analyze interpretability (e.g., SHAP, LIME).</a:t>
              </a:r>
            </a:p>
          </p:txBody>
        </p:sp>
      </p:grpSp>
      <p:graphicFrame>
        <p:nvGraphicFramePr>
          <p:cNvPr name="Table 29" id="29"/>
          <p:cNvGraphicFramePr>
            <a:graphicFrameLocks noGrp="true"/>
          </p:cNvGraphicFramePr>
          <p:nvPr/>
        </p:nvGraphicFramePr>
        <p:xfrm>
          <a:off x="0" y="1197292"/>
          <a:ext cx="6200182" cy="5007383"/>
        </p:xfrm>
        <a:graphic>
          <a:graphicData uri="http://schemas.openxmlformats.org/drawingml/2006/table">
            <a:tbl>
              <a:tblPr/>
              <a:tblGrid>
                <a:gridCol w="918635"/>
                <a:gridCol w="2543306"/>
                <a:gridCol w="890290"/>
                <a:gridCol w="874699"/>
                <a:gridCol w="973252"/>
              </a:tblGrid>
              <a:tr h="6672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Model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99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Setting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99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Best F1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99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99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ROC-AUC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99C9"/>
                    </a:solidFill>
                  </a:tcPr>
                </a:tc>
              </a:tr>
              <a:tr h="6958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XGBoost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99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Seen pattern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0.905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0.889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35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XGBoost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99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Seen pattern + 5 unseen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0.903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0.913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86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XGBoost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99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unseen pattern 0-shot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0.037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0.009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0.983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86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XGBoost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unseen pattern 5-shot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0.207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0.087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0.999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</a:tr>
              <a:tr h="6689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TabPFN 3.5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unseen pattern 5-shot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0.66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96"/>
                        </a:lnSpc>
                        <a:defRPr/>
                      </a:pPr>
                      <a:r>
                        <a:rPr lang="en-US" sz="1354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0.967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1730" y="2990850"/>
            <a:ext cx="70086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Deployment</a:t>
            </a:r>
          </a:p>
        </p:txBody>
      </p:sp>
      <p:sp>
        <p:nvSpPr>
          <p:cNvPr name="AutoShape 4" id="4"/>
          <p:cNvSpPr/>
          <p:nvPr/>
        </p:nvSpPr>
        <p:spPr>
          <a:xfrm>
            <a:off x="-2501717" y="3371850"/>
            <a:ext cx="34061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  <p:transition spd="fast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657" t="328" r="0" b="328"/>
          <a:stretch>
            <a:fillRect/>
          </a:stretch>
        </p:blipFill>
        <p:spPr>
          <a:xfrm flipH="false" flipV="false" rot="0">
            <a:off x="0" y="609511"/>
            <a:ext cx="9889224" cy="5562689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0" y="133261"/>
            <a:ext cx="21798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 u="sng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Deployment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</p:spTree>
  </p:cSld>
  <p:clrMapOvr>
    <a:masterClrMapping/>
  </p:clrMapOvr>
  <p:transition spd="fast">
    <p:fade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886950" cy="6858000"/>
          </a:xfrm>
          <a:custGeom>
            <a:avLst/>
            <a:gdLst/>
            <a:ahLst/>
            <a:cxnLst/>
            <a:rect r="r" b="b" t="t" l="l"/>
            <a:pathLst>
              <a:path h="6858000" w="9886950">
                <a:moveTo>
                  <a:pt x="0" y="0"/>
                </a:moveTo>
                <a:lnTo>
                  <a:pt x="9886950" y="0"/>
                </a:lnTo>
                <a:lnTo>
                  <a:pt x="988695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23" t="0" r="-202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2595" y="2724150"/>
            <a:ext cx="7361158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Limitations &amp;  B</a:t>
            </a: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usiness Value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14085" y="1354211"/>
            <a:ext cx="2980825" cy="4460471"/>
            <a:chOff x="0" y="0"/>
            <a:chExt cx="692712" cy="10365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2712" cy="1036566"/>
            </a:xfrm>
            <a:custGeom>
              <a:avLst/>
              <a:gdLst/>
              <a:ahLst/>
              <a:cxnLst/>
              <a:rect r="r" b="b" t="t" l="l"/>
              <a:pathLst>
                <a:path h="1036566" w="692712">
                  <a:moveTo>
                    <a:pt x="38959" y="0"/>
                  </a:moveTo>
                  <a:lnTo>
                    <a:pt x="653753" y="0"/>
                  </a:lnTo>
                  <a:cubicBezTo>
                    <a:pt x="675269" y="0"/>
                    <a:pt x="692712" y="17442"/>
                    <a:pt x="692712" y="38959"/>
                  </a:cubicBezTo>
                  <a:lnTo>
                    <a:pt x="692712" y="997607"/>
                  </a:lnTo>
                  <a:cubicBezTo>
                    <a:pt x="692712" y="1007939"/>
                    <a:pt x="688607" y="1017849"/>
                    <a:pt x="681301" y="1025155"/>
                  </a:cubicBezTo>
                  <a:cubicBezTo>
                    <a:pt x="673995" y="1032461"/>
                    <a:pt x="664086" y="1036566"/>
                    <a:pt x="653753" y="1036566"/>
                  </a:cubicBezTo>
                  <a:lnTo>
                    <a:pt x="38959" y="1036566"/>
                  </a:lnTo>
                  <a:cubicBezTo>
                    <a:pt x="28626" y="1036566"/>
                    <a:pt x="18717" y="1032461"/>
                    <a:pt x="11411" y="1025155"/>
                  </a:cubicBezTo>
                  <a:cubicBezTo>
                    <a:pt x="4105" y="1017849"/>
                    <a:pt x="0" y="1007939"/>
                    <a:pt x="0" y="997607"/>
                  </a:cubicBezTo>
                  <a:lnTo>
                    <a:pt x="0" y="38959"/>
                  </a:lnTo>
                  <a:cubicBezTo>
                    <a:pt x="0" y="28626"/>
                    <a:pt x="4105" y="18717"/>
                    <a:pt x="11411" y="11411"/>
                  </a:cubicBezTo>
                  <a:cubicBezTo>
                    <a:pt x="18717" y="4105"/>
                    <a:pt x="28626" y="0"/>
                    <a:pt x="38959" y="0"/>
                  </a:cubicBezTo>
                  <a:close/>
                </a:path>
              </a:pathLst>
            </a:custGeom>
            <a:blipFill>
              <a:blip r:embed="rId2"/>
              <a:stretch>
                <a:fillRect l="-23460" t="0" r="-23460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82679" y="1354211"/>
            <a:ext cx="6435251" cy="458774"/>
            <a:chOff x="0" y="0"/>
            <a:chExt cx="9039268" cy="6444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39293" cy="644398"/>
            </a:xfrm>
            <a:custGeom>
              <a:avLst/>
              <a:gdLst/>
              <a:ahLst/>
              <a:cxnLst/>
              <a:rect r="r" b="b" t="t" l="l"/>
              <a:pathLst>
                <a:path h="644398" w="9039293">
                  <a:moveTo>
                    <a:pt x="0" y="61023"/>
                  </a:moveTo>
                  <a:cubicBezTo>
                    <a:pt x="0" y="27305"/>
                    <a:pt x="79986" y="0"/>
                    <a:pt x="178759" y="0"/>
                  </a:cubicBezTo>
                  <a:lnTo>
                    <a:pt x="8860547" y="0"/>
                  </a:lnTo>
                  <a:cubicBezTo>
                    <a:pt x="8959320" y="0"/>
                    <a:pt x="9039293" y="27305"/>
                    <a:pt x="9039293" y="61023"/>
                  </a:cubicBezTo>
                  <a:lnTo>
                    <a:pt x="9039293" y="583375"/>
                  </a:lnTo>
                  <a:cubicBezTo>
                    <a:pt x="9039293" y="617093"/>
                    <a:pt x="8959320" y="644398"/>
                    <a:pt x="8860547" y="644398"/>
                  </a:cubicBezTo>
                  <a:lnTo>
                    <a:pt x="178759" y="644398"/>
                  </a:lnTo>
                  <a:cubicBezTo>
                    <a:pt x="79986" y="644398"/>
                    <a:pt x="0" y="617093"/>
                    <a:pt x="0" y="583375"/>
                  </a:cubicBezTo>
                  <a:close/>
                </a:path>
              </a:pathLst>
            </a:custGeom>
            <a:solidFill>
              <a:srgbClr val="F0EFFB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82679" y="2152406"/>
            <a:ext cx="6435251" cy="458774"/>
            <a:chOff x="0" y="0"/>
            <a:chExt cx="9039268" cy="6444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39293" cy="644398"/>
            </a:xfrm>
            <a:custGeom>
              <a:avLst/>
              <a:gdLst/>
              <a:ahLst/>
              <a:cxnLst/>
              <a:rect r="r" b="b" t="t" l="l"/>
              <a:pathLst>
                <a:path h="644398" w="9039293">
                  <a:moveTo>
                    <a:pt x="0" y="61023"/>
                  </a:moveTo>
                  <a:cubicBezTo>
                    <a:pt x="0" y="27305"/>
                    <a:pt x="79986" y="0"/>
                    <a:pt x="178759" y="0"/>
                  </a:cubicBezTo>
                  <a:lnTo>
                    <a:pt x="8860547" y="0"/>
                  </a:lnTo>
                  <a:cubicBezTo>
                    <a:pt x="8959320" y="0"/>
                    <a:pt x="9039293" y="27305"/>
                    <a:pt x="9039293" y="61023"/>
                  </a:cubicBezTo>
                  <a:lnTo>
                    <a:pt x="9039293" y="583375"/>
                  </a:lnTo>
                  <a:cubicBezTo>
                    <a:pt x="9039293" y="617093"/>
                    <a:pt x="8959320" y="644398"/>
                    <a:pt x="8860547" y="644398"/>
                  </a:cubicBezTo>
                  <a:lnTo>
                    <a:pt x="178759" y="644398"/>
                  </a:lnTo>
                  <a:cubicBezTo>
                    <a:pt x="79986" y="644398"/>
                    <a:pt x="0" y="617093"/>
                    <a:pt x="0" y="583375"/>
                  </a:cubicBezTo>
                  <a:close/>
                </a:path>
              </a:pathLst>
            </a:custGeom>
            <a:solidFill>
              <a:srgbClr val="F0EFF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82679" y="2925871"/>
            <a:ext cx="6435251" cy="458774"/>
            <a:chOff x="0" y="0"/>
            <a:chExt cx="9039268" cy="6444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39293" cy="644398"/>
            </a:xfrm>
            <a:custGeom>
              <a:avLst/>
              <a:gdLst/>
              <a:ahLst/>
              <a:cxnLst/>
              <a:rect r="r" b="b" t="t" l="l"/>
              <a:pathLst>
                <a:path h="644398" w="9039293">
                  <a:moveTo>
                    <a:pt x="0" y="61023"/>
                  </a:moveTo>
                  <a:cubicBezTo>
                    <a:pt x="0" y="27305"/>
                    <a:pt x="79986" y="0"/>
                    <a:pt x="178759" y="0"/>
                  </a:cubicBezTo>
                  <a:lnTo>
                    <a:pt x="8860547" y="0"/>
                  </a:lnTo>
                  <a:cubicBezTo>
                    <a:pt x="8959320" y="0"/>
                    <a:pt x="9039293" y="27305"/>
                    <a:pt x="9039293" y="61023"/>
                  </a:cubicBezTo>
                  <a:lnTo>
                    <a:pt x="9039293" y="583375"/>
                  </a:lnTo>
                  <a:cubicBezTo>
                    <a:pt x="9039293" y="617093"/>
                    <a:pt x="8959320" y="644398"/>
                    <a:pt x="8860547" y="644398"/>
                  </a:cubicBezTo>
                  <a:lnTo>
                    <a:pt x="178759" y="644398"/>
                  </a:lnTo>
                  <a:cubicBezTo>
                    <a:pt x="79986" y="644398"/>
                    <a:pt x="0" y="617093"/>
                    <a:pt x="0" y="583375"/>
                  </a:cubicBezTo>
                  <a:close/>
                </a:path>
              </a:pathLst>
            </a:custGeom>
            <a:solidFill>
              <a:srgbClr val="F0EFF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82679" y="3734413"/>
            <a:ext cx="6435251" cy="458774"/>
            <a:chOff x="0" y="0"/>
            <a:chExt cx="9039268" cy="6444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39293" cy="644398"/>
            </a:xfrm>
            <a:custGeom>
              <a:avLst/>
              <a:gdLst/>
              <a:ahLst/>
              <a:cxnLst/>
              <a:rect r="r" b="b" t="t" l="l"/>
              <a:pathLst>
                <a:path h="644398" w="9039293">
                  <a:moveTo>
                    <a:pt x="0" y="61023"/>
                  </a:moveTo>
                  <a:cubicBezTo>
                    <a:pt x="0" y="27305"/>
                    <a:pt x="79986" y="0"/>
                    <a:pt x="178759" y="0"/>
                  </a:cubicBezTo>
                  <a:lnTo>
                    <a:pt x="8860547" y="0"/>
                  </a:lnTo>
                  <a:cubicBezTo>
                    <a:pt x="8959320" y="0"/>
                    <a:pt x="9039293" y="27305"/>
                    <a:pt x="9039293" y="61023"/>
                  </a:cubicBezTo>
                  <a:lnTo>
                    <a:pt x="9039293" y="583375"/>
                  </a:lnTo>
                  <a:cubicBezTo>
                    <a:pt x="9039293" y="617093"/>
                    <a:pt x="8959320" y="644398"/>
                    <a:pt x="8860547" y="644398"/>
                  </a:cubicBezTo>
                  <a:lnTo>
                    <a:pt x="178759" y="644398"/>
                  </a:lnTo>
                  <a:cubicBezTo>
                    <a:pt x="79986" y="644398"/>
                    <a:pt x="0" y="617093"/>
                    <a:pt x="0" y="583375"/>
                  </a:cubicBezTo>
                  <a:close/>
                </a:path>
              </a:pathLst>
            </a:custGeom>
            <a:solidFill>
              <a:srgbClr val="F0EFF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82679" y="5355908"/>
            <a:ext cx="6430277" cy="458774"/>
            <a:chOff x="0" y="0"/>
            <a:chExt cx="9032280" cy="6444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32306" cy="644398"/>
            </a:xfrm>
            <a:custGeom>
              <a:avLst/>
              <a:gdLst/>
              <a:ahLst/>
              <a:cxnLst/>
              <a:rect r="r" b="b" t="t" l="l"/>
              <a:pathLst>
                <a:path h="644398" w="9032306">
                  <a:moveTo>
                    <a:pt x="0" y="61023"/>
                  </a:moveTo>
                  <a:cubicBezTo>
                    <a:pt x="0" y="27305"/>
                    <a:pt x="79924" y="0"/>
                    <a:pt x="178620" y="0"/>
                  </a:cubicBezTo>
                  <a:lnTo>
                    <a:pt x="8853698" y="0"/>
                  </a:lnTo>
                  <a:cubicBezTo>
                    <a:pt x="8952394" y="0"/>
                    <a:pt x="9032306" y="27305"/>
                    <a:pt x="9032306" y="61023"/>
                  </a:cubicBezTo>
                  <a:lnTo>
                    <a:pt x="9032306" y="583375"/>
                  </a:lnTo>
                  <a:cubicBezTo>
                    <a:pt x="9032306" y="617093"/>
                    <a:pt x="8952394" y="644398"/>
                    <a:pt x="8853698" y="644398"/>
                  </a:cubicBezTo>
                  <a:lnTo>
                    <a:pt x="178620" y="644398"/>
                  </a:lnTo>
                  <a:cubicBezTo>
                    <a:pt x="79924" y="644398"/>
                    <a:pt x="0" y="617093"/>
                    <a:pt x="0" y="583375"/>
                  </a:cubicBezTo>
                  <a:close/>
                </a:path>
              </a:pathLst>
            </a:custGeom>
            <a:solidFill>
              <a:srgbClr val="F0EFF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82679" y="4534808"/>
            <a:ext cx="6435251" cy="458774"/>
            <a:chOff x="0" y="0"/>
            <a:chExt cx="9039268" cy="64441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39293" cy="644398"/>
            </a:xfrm>
            <a:custGeom>
              <a:avLst/>
              <a:gdLst/>
              <a:ahLst/>
              <a:cxnLst/>
              <a:rect r="r" b="b" t="t" l="l"/>
              <a:pathLst>
                <a:path h="644398" w="9039293">
                  <a:moveTo>
                    <a:pt x="0" y="61023"/>
                  </a:moveTo>
                  <a:cubicBezTo>
                    <a:pt x="0" y="27305"/>
                    <a:pt x="79986" y="0"/>
                    <a:pt x="178759" y="0"/>
                  </a:cubicBezTo>
                  <a:lnTo>
                    <a:pt x="8860547" y="0"/>
                  </a:lnTo>
                  <a:cubicBezTo>
                    <a:pt x="8959320" y="0"/>
                    <a:pt x="9039293" y="27305"/>
                    <a:pt x="9039293" y="61023"/>
                  </a:cubicBezTo>
                  <a:lnTo>
                    <a:pt x="9039293" y="583375"/>
                  </a:lnTo>
                  <a:cubicBezTo>
                    <a:pt x="9039293" y="617093"/>
                    <a:pt x="8959320" y="644398"/>
                    <a:pt x="8860547" y="644398"/>
                  </a:cubicBezTo>
                  <a:lnTo>
                    <a:pt x="178759" y="644398"/>
                  </a:lnTo>
                  <a:cubicBezTo>
                    <a:pt x="79986" y="644398"/>
                    <a:pt x="0" y="617093"/>
                    <a:pt x="0" y="583375"/>
                  </a:cubicBezTo>
                  <a:close/>
                </a:path>
              </a:pathLst>
            </a:custGeom>
            <a:solidFill>
              <a:srgbClr val="F0EFF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9288" y="309563"/>
            <a:ext cx="582420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Limita</a:t>
            </a: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tions &amp; Challenges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30192" y="1370239"/>
            <a:ext cx="631770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Limited Labeled Data</a:t>
            </a:r>
            <a:r>
              <a:rPr lang="en-US" sz="120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: Newly emerging fraud patterns may have</a:t>
            </a:r>
            <a:r>
              <a:rPr lang="en-US" sz="120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only a few labeled examples available.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0192" y="2168434"/>
            <a:ext cx="6245205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Data</a:t>
            </a:r>
            <a:r>
              <a:rPr lang="en-US" b="true" sz="1200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 Limitations:</a:t>
            </a:r>
            <a:r>
              <a:rPr lang="en-US" sz="120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Public datasets may not contain reliable labels for different fraud subtypes, making it difficult to evaluate generalization to truly unseen fraud patterns.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30192" y="2966618"/>
            <a:ext cx="631770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False</a:t>
            </a:r>
            <a:r>
              <a:rPr lang="en-US" b="true" sz="1200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 Positives: </a:t>
            </a:r>
            <a:r>
              <a:rPr lang="en-US" sz="120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Incorrect fraud alerts may increase the workload of fraud analysts and delay legitimate transactions.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0192" y="3764813"/>
            <a:ext cx="6382763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Clas</a:t>
            </a:r>
            <a:r>
              <a:rPr lang="en-US" b="true" sz="1200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s Imbalance: </a:t>
            </a:r>
            <a:r>
              <a:rPr lang="en-US" sz="120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Fraudulent transactions are typically much less common than legitimate transactions,creating challenges for model evaluation.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30192" y="5361203"/>
            <a:ext cx="6245205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Privacy</a:t>
            </a:r>
            <a:r>
              <a:rPr lang="en-US" b="true" sz="1200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 &amp; Security: </a:t>
            </a:r>
            <a:r>
              <a:rPr lang="en-US" sz="120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Financial transaction data must be handled securely and in accordance with applicable privacy requirements.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30192" y="4563008"/>
            <a:ext cx="6164066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Real-World</a:t>
            </a:r>
            <a:r>
              <a:rPr lang="en-US" b="true" sz="1200">
                <a:solidFill>
                  <a:srgbClr val="000000"/>
                </a:solidFill>
                <a:latin typeface="Droid Arabic Kufi Bold"/>
                <a:ea typeface="Droid Arabic Kufi Bold"/>
                <a:cs typeface="Droid Arabic Kufi Bold"/>
                <a:sym typeface="Droid Arabic Kufi Bold"/>
              </a:rPr>
              <a:t> Validation: </a:t>
            </a:r>
            <a:r>
              <a:rPr lang="en-US" sz="120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Performance on simulated few-shot tasks may not fully reflect real-world fraud detection effectiveness.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938732" y="1313046"/>
            <a:ext cx="4660883" cy="787184"/>
            <a:chOff x="0" y="0"/>
            <a:chExt cx="6214510" cy="104957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214510" cy="1049579"/>
              <a:chOff x="0" y="0"/>
              <a:chExt cx="6546904" cy="110571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546929" cy="1105684"/>
              </a:xfrm>
              <a:custGeom>
                <a:avLst/>
                <a:gdLst/>
                <a:ahLst/>
                <a:cxnLst/>
                <a:rect r="r" b="b" t="t" l="l"/>
                <a:pathLst>
                  <a:path h="1105684" w="6546929">
                    <a:moveTo>
                      <a:pt x="0" y="104707"/>
                    </a:moveTo>
                    <a:cubicBezTo>
                      <a:pt x="0" y="46851"/>
                      <a:pt x="57931" y="0"/>
                      <a:pt x="129470" y="0"/>
                    </a:cubicBezTo>
                    <a:lnTo>
                      <a:pt x="6417460" y="0"/>
                    </a:lnTo>
                    <a:cubicBezTo>
                      <a:pt x="6488999" y="0"/>
                      <a:pt x="6546929" y="46851"/>
                      <a:pt x="6546929" y="104707"/>
                    </a:cubicBezTo>
                    <a:lnTo>
                      <a:pt x="6546929" y="1000978"/>
                    </a:lnTo>
                    <a:cubicBezTo>
                      <a:pt x="6546929" y="1058833"/>
                      <a:pt x="6488999" y="1105684"/>
                      <a:pt x="6417460" y="1105684"/>
                    </a:cubicBezTo>
                    <a:lnTo>
                      <a:pt x="129470" y="1105684"/>
                    </a:lnTo>
                    <a:cubicBezTo>
                      <a:pt x="57931" y="1105684"/>
                      <a:pt x="0" y="1058833"/>
                      <a:pt x="0" y="1000978"/>
                    </a:cubicBezTo>
                    <a:close/>
                  </a:path>
                </a:pathLst>
              </a:custGeom>
              <a:solidFill>
                <a:srgbClr val="0255A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365923" y="150440"/>
              <a:ext cx="5482664" cy="816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1679"/>
                </a:lnSpc>
              </a:pPr>
              <a:r>
                <a:rPr lang="en-US" sz="1200">
                  <a:solidFill>
                    <a:srgbClr val="FFFFFF"/>
                  </a:solidFill>
                  <a:latin typeface="Droid Arabic Kufi"/>
                  <a:ea typeface="Droid Arabic Kufi"/>
                  <a:cs typeface="Droid Arabic Kufi"/>
                  <a:sym typeface="Droid Arabic Kufi"/>
                </a:rPr>
                <a:t>Adapt to new fraud patterns using</a:t>
              </a:r>
              <a:r>
                <a:rPr lang="en-US" sz="1200">
                  <a:solidFill>
                    <a:srgbClr val="FFFFFF"/>
                  </a:solidFill>
                  <a:latin typeface="Droid Arabic Kufi"/>
                  <a:ea typeface="Droid Arabic Kufi"/>
                  <a:cs typeface="Droid Arabic Kufi"/>
                  <a:sym typeface="Droid Arabic Kufi"/>
                </a:rPr>
                <a:t> a small number of labeled examples, potentially reducing data-labeling effort</a:t>
              </a:r>
              <a:r>
                <a:rPr lang="ar-EG" sz="1200">
                  <a:solidFill>
                    <a:srgbClr val="FFFFFF"/>
                  </a:solidFill>
                  <a:latin typeface="Droid Arabic Kufi"/>
                  <a:ea typeface="Droid Arabic Kufi"/>
                  <a:cs typeface="Droid Arabic Kufi"/>
                  <a:sym typeface="Droid Arabic Kufi"/>
                  <a:rtl val="true"/>
                </a:rPr>
                <a:t>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86075" y="1610875"/>
            <a:ext cx="2256899" cy="191526"/>
            <a:chOff x="0" y="0"/>
            <a:chExt cx="891614" cy="756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1614" cy="75665"/>
            </a:xfrm>
            <a:custGeom>
              <a:avLst/>
              <a:gdLst/>
              <a:ahLst/>
              <a:cxnLst/>
              <a:rect r="r" b="b" t="t" l="l"/>
              <a:pathLst>
                <a:path h="75665" w="891614">
                  <a:moveTo>
                    <a:pt x="37832" y="0"/>
                  </a:moveTo>
                  <a:lnTo>
                    <a:pt x="853782" y="0"/>
                  </a:lnTo>
                  <a:cubicBezTo>
                    <a:pt x="874676" y="0"/>
                    <a:pt x="891614" y="16938"/>
                    <a:pt x="891614" y="37832"/>
                  </a:cubicBezTo>
                  <a:lnTo>
                    <a:pt x="891614" y="37832"/>
                  </a:lnTo>
                  <a:cubicBezTo>
                    <a:pt x="891614" y="47866"/>
                    <a:pt x="887628" y="57489"/>
                    <a:pt x="880534" y="64584"/>
                  </a:cubicBezTo>
                  <a:cubicBezTo>
                    <a:pt x="873439" y="71679"/>
                    <a:pt x="863816" y="75665"/>
                    <a:pt x="853782" y="75665"/>
                  </a:cubicBezTo>
                  <a:lnTo>
                    <a:pt x="37832" y="75665"/>
                  </a:lnTo>
                  <a:cubicBezTo>
                    <a:pt x="27799" y="75665"/>
                    <a:pt x="18176" y="71679"/>
                    <a:pt x="11081" y="64584"/>
                  </a:cubicBezTo>
                  <a:cubicBezTo>
                    <a:pt x="3986" y="57489"/>
                    <a:pt x="0" y="47866"/>
                    <a:pt x="0" y="37832"/>
                  </a:cubicBezTo>
                  <a:lnTo>
                    <a:pt x="0" y="37832"/>
                  </a:lnTo>
                  <a:cubicBezTo>
                    <a:pt x="0" y="27799"/>
                    <a:pt x="3986" y="18176"/>
                    <a:pt x="11081" y="11081"/>
                  </a:cubicBezTo>
                  <a:cubicBezTo>
                    <a:pt x="18176" y="3986"/>
                    <a:pt x="27799" y="0"/>
                    <a:pt x="3783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891614" cy="94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938732" y="2300255"/>
            <a:ext cx="4660883" cy="787184"/>
            <a:chOff x="0" y="0"/>
            <a:chExt cx="6214510" cy="104957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214510" cy="1049579"/>
              <a:chOff x="0" y="0"/>
              <a:chExt cx="6546904" cy="11057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546929" cy="1105684"/>
              </a:xfrm>
              <a:custGeom>
                <a:avLst/>
                <a:gdLst/>
                <a:ahLst/>
                <a:cxnLst/>
                <a:rect r="r" b="b" t="t" l="l"/>
                <a:pathLst>
                  <a:path h="1105684" w="6546929">
                    <a:moveTo>
                      <a:pt x="0" y="104707"/>
                    </a:moveTo>
                    <a:cubicBezTo>
                      <a:pt x="0" y="46851"/>
                      <a:pt x="57931" y="0"/>
                      <a:pt x="129470" y="0"/>
                    </a:cubicBezTo>
                    <a:lnTo>
                      <a:pt x="6417460" y="0"/>
                    </a:lnTo>
                    <a:cubicBezTo>
                      <a:pt x="6488999" y="0"/>
                      <a:pt x="6546929" y="46851"/>
                      <a:pt x="6546929" y="104707"/>
                    </a:cubicBezTo>
                    <a:lnTo>
                      <a:pt x="6546929" y="1000978"/>
                    </a:lnTo>
                    <a:cubicBezTo>
                      <a:pt x="6546929" y="1058833"/>
                      <a:pt x="6488999" y="1105684"/>
                      <a:pt x="6417460" y="1105684"/>
                    </a:cubicBezTo>
                    <a:lnTo>
                      <a:pt x="129470" y="1105684"/>
                    </a:lnTo>
                    <a:cubicBezTo>
                      <a:pt x="57931" y="1105684"/>
                      <a:pt x="0" y="1058833"/>
                      <a:pt x="0" y="1000978"/>
                    </a:cubicBezTo>
                    <a:close/>
                  </a:path>
                </a:pathLst>
              </a:custGeom>
              <a:solidFill>
                <a:srgbClr val="0255A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403758" y="141340"/>
              <a:ext cx="5563130" cy="816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1679"/>
                </a:lnSpc>
              </a:pPr>
              <a:r>
                <a:rPr lang="en-US" sz="1200">
                  <a:solidFill>
                    <a:srgbClr val="FFFFFF"/>
                  </a:solidFill>
                  <a:latin typeface="Droid Arabic Kufi"/>
                  <a:ea typeface="Droid Arabic Kufi"/>
                  <a:cs typeface="Droid Arabic Kufi"/>
                  <a:sym typeface="Droid Arabic Kufi"/>
                </a:rPr>
                <a:t>Help financial institutions respond to emerging fraud patterns without waiting</a:t>
              </a:r>
              <a:r>
                <a:rPr lang="en-US" sz="1200">
                  <a:solidFill>
                    <a:srgbClr val="FFFFFF"/>
                  </a:solidFill>
                  <a:latin typeface="Droid Arabic Kufi"/>
                  <a:ea typeface="Droid Arabic Kufi"/>
                  <a:cs typeface="Droid Arabic Kufi"/>
                  <a:sym typeface="Droid Arabic Kufi"/>
                </a:rPr>
                <a:t> for a complete model retraining cycle</a:t>
              </a:r>
              <a:r>
                <a:rPr lang="ar-EG" sz="1200">
                  <a:solidFill>
                    <a:srgbClr val="FFFFFF"/>
                  </a:solidFill>
                  <a:latin typeface="Droid Arabic Kufi"/>
                  <a:ea typeface="Droid Arabic Kufi"/>
                  <a:cs typeface="Droid Arabic Kufi"/>
                  <a:sym typeface="Droid Arabic Kufi"/>
                  <a:rtl val="true"/>
                </a:rPr>
                <a:t>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886075" y="2598084"/>
            <a:ext cx="2256899" cy="191526"/>
            <a:chOff x="0" y="0"/>
            <a:chExt cx="891614" cy="756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1614" cy="75665"/>
            </a:xfrm>
            <a:custGeom>
              <a:avLst/>
              <a:gdLst/>
              <a:ahLst/>
              <a:cxnLst/>
              <a:rect r="r" b="b" t="t" l="l"/>
              <a:pathLst>
                <a:path h="75665" w="891614">
                  <a:moveTo>
                    <a:pt x="37832" y="0"/>
                  </a:moveTo>
                  <a:lnTo>
                    <a:pt x="853782" y="0"/>
                  </a:lnTo>
                  <a:cubicBezTo>
                    <a:pt x="874676" y="0"/>
                    <a:pt x="891614" y="16938"/>
                    <a:pt x="891614" y="37832"/>
                  </a:cubicBezTo>
                  <a:lnTo>
                    <a:pt x="891614" y="37832"/>
                  </a:lnTo>
                  <a:cubicBezTo>
                    <a:pt x="891614" y="47866"/>
                    <a:pt x="887628" y="57489"/>
                    <a:pt x="880534" y="64584"/>
                  </a:cubicBezTo>
                  <a:cubicBezTo>
                    <a:pt x="873439" y="71679"/>
                    <a:pt x="863816" y="75665"/>
                    <a:pt x="853782" y="75665"/>
                  </a:cubicBezTo>
                  <a:lnTo>
                    <a:pt x="37832" y="75665"/>
                  </a:lnTo>
                  <a:cubicBezTo>
                    <a:pt x="27799" y="75665"/>
                    <a:pt x="18176" y="71679"/>
                    <a:pt x="11081" y="64584"/>
                  </a:cubicBezTo>
                  <a:cubicBezTo>
                    <a:pt x="3986" y="57489"/>
                    <a:pt x="0" y="47866"/>
                    <a:pt x="0" y="37832"/>
                  </a:cubicBezTo>
                  <a:lnTo>
                    <a:pt x="0" y="37832"/>
                  </a:lnTo>
                  <a:cubicBezTo>
                    <a:pt x="0" y="27799"/>
                    <a:pt x="3986" y="18176"/>
                    <a:pt x="11081" y="11081"/>
                  </a:cubicBezTo>
                  <a:cubicBezTo>
                    <a:pt x="18176" y="3986"/>
                    <a:pt x="27799" y="0"/>
                    <a:pt x="3783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891614" cy="94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938732" y="4284198"/>
            <a:ext cx="4660883" cy="787184"/>
            <a:chOff x="0" y="0"/>
            <a:chExt cx="6214510" cy="104957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214510" cy="1049579"/>
              <a:chOff x="0" y="0"/>
              <a:chExt cx="6546904" cy="110571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546929" cy="1105684"/>
              </a:xfrm>
              <a:custGeom>
                <a:avLst/>
                <a:gdLst/>
                <a:ahLst/>
                <a:cxnLst/>
                <a:rect r="r" b="b" t="t" l="l"/>
                <a:pathLst>
                  <a:path h="1105684" w="6546929">
                    <a:moveTo>
                      <a:pt x="0" y="104707"/>
                    </a:moveTo>
                    <a:cubicBezTo>
                      <a:pt x="0" y="46851"/>
                      <a:pt x="57931" y="0"/>
                      <a:pt x="129470" y="0"/>
                    </a:cubicBezTo>
                    <a:lnTo>
                      <a:pt x="6417460" y="0"/>
                    </a:lnTo>
                    <a:cubicBezTo>
                      <a:pt x="6488999" y="0"/>
                      <a:pt x="6546929" y="46851"/>
                      <a:pt x="6546929" y="104707"/>
                    </a:cubicBezTo>
                    <a:lnTo>
                      <a:pt x="6546929" y="1000978"/>
                    </a:lnTo>
                    <a:cubicBezTo>
                      <a:pt x="6546929" y="1058833"/>
                      <a:pt x="6488999" y="1105684"/>
                      <a:pt x="6417460" y="1105684"/>
                    </a:cubicBezTo>
                    <a:lnTo>
                      <a:pt x="129470" y="1105684"/>
                    </a:lnTo>
                    <a:cubicBezTo>
                      <a:pt x="57931" y="1105684"/>
                      <a:pt x="0" y="1058833"/>
                      <a:pt x="0" y="1000978"/>
                    </a:cubicBezTo>
                    <a:close/>
                  </a:path>
                </a:pathLst>
              </a:custGeom>
              <a:solidFill>
                <a:srgbClr val="0255A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365923" y="238567"/>
              <a:ext cx="5482664" cy="537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1679"/>
                </a:lnSpc>
              </a:pPr>
              <a:r>
                <a:rPr lang="en-US" sz="1200">
                  <a:solidFill>
                    <a:srgbClr val="FFFFFF"/>
                  </a:solidFill>
                  <a:latin typeface="Droid Arabic Kufi"/>
                  <a:ea typeface="Droid Arabic Kufi"/>
                  <a:cs typeface="Droid Arabic Kufi"/>
                  <a:sym typeface="Droid Arabic Kufi"/>
                </a:rPr>
                <a:t>Prioritize suspicious transactions so fraud analysts</a:t>
              </a:r>
              <a:r>
                <a:rPr lang="en-US" sz="1200">
                  <a:solidFill>
                    <a:srgbClr val="FFFFFF"/>
                  </a:solidFill>
                  <a:latin typeface="Droid Arabic Kufi"/>
                  <a:ea typeface="Droid Arabic Kufi"/>
                  <a:cs typeface="Droid Arabic Kufi"/>
                  <a:sym typeface="Droid Arabic Kufi"/>
                </a:rPr>
                <a:t> can focus their attention on potentially high-risk cases</a:t>
              </a:r>
              <a:r>
                <a:rPr lang="ar-EG" sz="1200">
                  <a:solidFill>
                    <a:srgbClr val="FFFFFF"/>
                  </a:solidFill>
                  <a:latin typeface="Droid Arabic Kufi"/>
                  <a:ea typeface="Droid Arabic Kufi"/>
                  <a:cs typeface="Droid Arabic Kufi"/>
                  <a:sym typeface="Droid Arabic Kufi"/>
                  <a:rtl val="true"/>
                </a:rPr>
                <a:t>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886075" y="4579473"/>
            <a:ext cx="2256899" cy="191526"/>
            <a:chOff x="0" y="0"/>
            <a:chExt cx="891614" cy="756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91614" cy="75665"/>
            </a:xfrm>
            <a:custGeom>
              <a:avLst/>
              <a:gdLst/>
              <a:ahLst/>
              <a:cxnLst/>
              <a:rect r="r" b="b" t="t" l="l"/>
              <a:pathLst>
                <a:path h="75665" w="891614">
                  <a:moveTo>
                    <a:pt x="37832" y="0"/>
                  </a:moveTo>
                  <a:lnTo>
                    <a:pt x="853782" y="0"/>
                  </a:lnTo>
                  <a:cubicBezTo>
                    <a:pt x="874676" y="0"/>
                    <a:pt x="891614" y="16938"/>
                    <a:pt x="891614" y="37832"/>
                  </a:cubicBezTo>
                  <a:lnTo>
                    <a:pt x="891614" y="37832"/>
                  </a:lnTo>
                  <a:cubicBezTo>
                    <a:pt x="891614" y="47866"/>
                    <a:pt x="887628" y="57489"/>
                    <a:pt x="880534" y="64584"/>
                  </a:cubicBezTo>
                  <a:cubicBezTo>
                    <a:pt x="873439" y="71679"/>
                    <a:pt x="863816" y="75665"/>
                    <a:pt x="853782" y="75665"/>
                  </a:cubicBezTo>
                  <a:lnTo>
                    <a:pt x="37832" y="75665"/>
                  </a:lnTo>
                  <a:cubicBezTo>
                    <a:pt x="27799" y="75665"/>
                    <a:pt x="18176" y="71679"/>
                    <a:pt x="11081" y="64584"/>
                  </a:cubicBezTo>
                  <a:cubicBezTo>
                    <a:pt x="3986" y="57489"/>
                    <a:pt x="0" y="47866"/>
                    <a:pt x="0" y="37832"/>
                  </a:cubicBezTo>
                  <a:lnTo>
                    <a:pt x="0" y="37832"/>
                  </a:lnTo>
                  <a:cubicBezTo>
                    <a:pt x="0" y="27799"/>
                    <a:pt x="3986" y="18176"/>
                    <a:pt x="11081" y="11081"/>
                  </a:cubicBezTo>
                  <a:cubicBezTo>
                    <a:pt x="18176" y="3986"/>
                    <a:pt x="27799" y="0"/>
                    <a:pt x="3783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891614" cy="94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38732" y="5268794"/>
            <a:ext cx="4660883" cy="787184"/>
            <a:chOff x="0" y="0"/>
            <a:chExt cx="6214510" cy="1049579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6214510" cy="1049579"/>
              <a:chOff x="0" y="0"/>
              <a:chExt cx="6546904" cy="110571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546929" cy="1105684"/>
              </a:xfrm>
              <a:custGeom>
                <a:avLst/>
                <a:gdLst/>
                <a:ahLst/>
                <a:cxnLst/>
                <a:rect r="r" b="b" t="t" l="l"/>
                <a:pathLst>
                  <a:path h="1105684" w="6546929">
                    <a:moveTo>
                      <a:pt x="0" y="104707"/>
                    </a:moveTo>
                    <a:cubicBezTo>
                      <a:pt x="0" y="46851"/>
                      <a:pt x="57931" y="0"/>
                      <a:pt x="129470" y="0"/>
                    </a:cubicBezTo>
                    <a:lnTo>
                      <a:pt x="6417460" y="0"/>
                    </a:lnTo>
                    <a:cubicBezTo>
                      <a:pt x="6488999" y="0"/>
                      <a:pt x="6546929" y="46851"/>
                      <a:pt x="6546929" y="104707"/>
                    </a:cubicBezTo>
                    <a:lnTo>
                      <a:pt x="6546929" y="1000978"/>
                    </a:lnTo>
                    <a:cubicBezTo>
                      <a:pt x="6546929" y="1058833"/>
                      <a:pt x="6488999" y="1105684"/>
                      <a:pt x="6417460" y="1105684"/>
                    </a:cubicBezTo>
                    <a:lnTo>
                      <a:pt x="129470" y="1105684"/>
                    </a:lnTo>
                    <a:cubicBezTo>
                      <a:pt x="57931" y="1105684"/>
                      <a:pt x="0" y="1058833"/>
                      <a:pt x="0" y="1000978"/>
                    </a:cubicBezTo>
                    <a:close/>
                  </a:path>
                </a:pathLst>
              </a:custGeom>
              <a:solidFill>
                <a:srgbClr val="0255A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363524" y="119659"/>
              <a:ext cx="5563130" cy="816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1679"/>
                </a:lnSpc>
              </a:pPr>
              <a:r>
                <a:rPr lang="ar-EG" sz="1200">
                  <a:solidFill>
                    <a:srgbClr val="FFFFFF"/>
                  </a:solidFill>
                  <a:latin typeface="Droid Arabic Kufi"/>
                  <a:ea typeface="Droid Arabic Kufi"/>
                  <a:cs typeface="Droid Arabic Kufi"/>
                  <a:sym typeface="Droid Arabic Kufi"/>
                  <a:rtl val="true"/>
                </a:rPr>
                <a:t> </a:t>
              </a:r>
              <a:r>
                <a:rPr lang="en-US" sz="1200">
                  <a:solidFill>
                    <a:srgbClr val="FFFFFF"/>
                  </a:solidFill>
                  <a:latin typeface="Droid Arabic Kufi"/>
                  <a:ea typeface="Droid Arabic Kufi"/>
                  <a:cs typeface="Droid Arabic Kufi"/>
                  <a:sym typeface="Droid Arabic Kufi"/>
                </a:rPr>
                <a:t>Provide an approach that banks, payment</a:t>
              </a:r>
              <a:r>
                <a:rPr lang="en-US" sz="1200">
                  <a:solidFill>
                    <a:srgbClr val="FFFFFF"/>
                  </a:solidFill>
                  <a:latin typeface="Droid Arabic Kufi"/>
                  <a:ea typeface="Droid Arabic Kufi"/>
                  <a:cs typeface="Droid Arabic Kufi"/>
                  <a:sym typeface="Droid Arabic Kufi"/>
                </a:rPr>
                <a:t> processors, and fintech companies can evaluate for their fraud detection workflows</a:t>
              </a:r>
              <a:r>
                <a:rPr lang="ar-EG" sz="1200">
                  <a:solidFill>
                    <a:srgbClr val="FFFFFF"/>
                  </a:solidFill>
                  <a:latin typeface="Droid Arabic Kufi"/>
                  <a:ea typeface="Droid Arabic Kufi"/>
                  <a:cs typeface="Droid Arabic Kufi"/>
                  <a:sym typeface="Droid Arabic Kufi"/>
                  <a:rtl val="true"/>
                </a:rPr>
                <a:t>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886075" y="5586006"/>
            <a:ext cx="2256899" cy="191526"/>
            <a:chOff x="0" y="0"/>
            <a:chExt cx="891614" cy="7566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91614" cy="75665"/>
            </a:xfrm>
            <a:custGeom>
              <a:avLst/>
              <a:gdLst/>
              <a:ahLst/>
              <a:cxnLst/>
              <a:rect r="r" b="b" t="t" l="l"/>
              <a:pathLst>
                <a:path h="75665" w="891614">
                  <a:moveTo>
                    <a:pt x="37832" y="0"/>
                  </a:moveTo>
                  <a:lnTo>
                    <a:pt x="853782" y="0"/>
                  </a:lnTo>
                  <a:cubicBezTo>
                    <a:pt x="874676" y="0"/>
                    <a:pt x="891614" y="16938"/>
                    <a:pt x="891614" y="37832"/>
                  </a:cubicBezTo>
                  <a:lnTo>
                    <a:pt x="891614" y="37832"/>
                  </a:lnTo>
                  <a:cubicBezTo>
                    <a:pt x="891614" y="47866"/>
                    <a:pt x="887628" y="57489"/>
                    <a:pt x="880534" y="64584"/>
                  </a:cubicBezTo>
                  <a:cubicBezTo>
                    <a:pt x="873439" y="71679"/>
                    <a:pt x="863816" y="75665"/>
                    <a:pt x="853782" y="75665"/>
                  </a:cubicBezTo>
                  <a:lnTo>
                    <a:pt x="37832" y="75665"/>
                  </a:lnTo>
                  <a:cubicBezTo>
                    <a:pt x="27799" y="75665"/>
                    <a:pt x="18176" y="71679"/>
                    <a:pt x="11081" y="64584"/>
                  </a:cubicBezTo>
                  <a:cubicBezTo>
                    <a:pt x="3986" y="57489"/>
                    <a:pt x="0" y="47866"/>
                    <a:pt x="0" y="37832"/>
                  </a:cubicBezTo>
                  <a:lnTo>
                    <a:pt x="0" y="37832"/>
                  </a:lnTo>
                  <a:cubicBezTo>
                    <a:pt x="0" y="27799"/>
                    <a:pt x="3986" y="18176"/>
                    <a:pt x="11081" y="11081"/>
                  </a:cubicBezTo>
                  <a:cubicBezTo>
                    <a:pt x="18176" y="3986"/>
                    <a:pt x="27799" y="0"/>
                    <a:pt x="3783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891614" cy="94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01729" y="1470793"/>
            <a:ext cx="2762980" cy="458774"/>
            <a:chOff x="0" y="0"/>
            <a:chExt cx="3683973" cy="611699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3683973" cy="611699"/>
              <a:chOff x="0" y="0"/>
              <a:chExt cx="3881016" cy="6444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881041" cy="644398"/>
              </a:xfrm>
              <a:custGeom>
                <a:avLst/>
                <a:gdLst/>
                <a:ahLst/>
                <a:cxnLst/>
                <a:rect r="r" b="b" t="t" l="l"/>
                <a:pathLst>
                  <a:path h="644398" w="3881041">
                    <a:moveTo>
                      <a:pt x="0" y="61023"/>
                    </a:moveTo>
                    <a:cubicBezTo>
                      <a:pt x="0" y="27305"/>
                      <a:pt x="34342" y="0"/>
                      <a:pt x="76750" y="0"/>
                    </a:cubicBezTo>
                    <a:lnTo>
                      <a:pt x="3804282" y="0"/>
                    </a:lnTo>
                    <a:cubicBezTo>
                      <a:pt x="3846690" y="0"/>
                      <a:pt x="3881041" y="27305"/>
                      <a:pt x="3881041" y="61023"/>
                    </a:cubicBezTo>
                    <a:lnTo>
                      <a:pt x="3881041" y="583375"/>
                    </a:lnTo>
                    <a:cubicBezTo>
                      <a:pt x="3881041" y="617093"/>
                      <a:pt x="3846690" y="644398"/>
                      <a:pt x="3804282" y="644398"/>
                    </a:cubicBezTo>
                    <a:lnTo>
                      <a:pt x="76750" y="644398"/>
                    </a:lnTo>
                    <a:cubicBezTo>
                      <a:pt x="34342" y="644398"/>
                      <a:pt x="0" y="617093"/>
                      <a:pt x="0" y="583375"/>
                    </a:cubicBezTo>
                    <a:close/>
                  </a:path>
                </a:pathLst>
              </a:custGeom>
              <a:solidFill>
                <a:srgbClr val="F0EFFB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36" id="36"/>
            <p:cNvSpPr txBox="true"/>
            <p:nvPr/>
          </p:nvSpPr>
          <p:spPr>
            <a:xfrm rot="0">
              <a:off x="114370" y="167420"/>
              <a:ext cx="3455233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000000"/>
                  </a:solidFill>
                  <a:latin typeface="Droid Arabic Kufi Bold"/>
                  <a:ea typeface="Droid Arabic Kufi Bold"/>
                  <a:cs typeface="Droid Arabic Kufi Bold"/>
                  <a:sym typeface="Droid Arabic Kufi Bold"/>
                </a:rPr>
                <a:t>Reduced Labeling Requirements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82679" y="2464460"/>
            <a:ext cx="2762980" cy="458774"/>
            <a:chOff x="0" y="0"/>
            <a:chExt cx="3683973" cy="611699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3683973" cy="611699"/>
              <a:chOff x="0" y="0"/>
              <a:chExt cx="3881016" cy="644417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3881041" cy="644398"/>
              </a:xfrm>
              <a:custGeom>
                <a:avLst/>
                <a:gdLst/>
                <a:ahLst/>
                <a:cxnLst/>
                <a:rect r="r" b="b" t="t" l="l"/>
                <a:pathLst>
                  <a:path h="644398" w="3881041">
                    <a:moveTo>
                      <a:pt x="0" y="61023"/>
                    </a:moveTo>
                    <a:cubicBezTo>
                      <a:pt x="0" y="27305"/>
                      <a:pt x="34342" y="0"/>
                      <a:pt x="76750" y="0"/>
                    </a:cubicBezTo>
                    <a:lnTo>
                      <a:pt x="3804282" y="0"/>
                    </a:lnTo>
                    <a:cubicBezTo>
                      <a:pt x="3846690" y="0"/>
                      <a:pt x="3881041" y="27305"/>
                      <a:pt x="3881041" y="61023"/>
                    </a:cubicBezTo>
                    <a:lnTo>
                      <a:pt x="3881041" y="583375"/>
                    </a:lnTo>
                    <a:cubicBezTo>
                      <a:pt x="3881041" y="617093"/>
                      <a:pt x="3846690" y="644398"/>
                      <a:pt x="3804282" y="644398"/>
                    </a:cubicBezTo>
                    <a:lnTo>
                      <a:pt x="76750" y="644398"/>
                    </a:lnTo>
                    <a:cubicBezTo>
                      <a:pt x="34342" y="644398"/>
                      <a:pt x="0" y="617093"/>
                      <a:pt x="0" y="583375"/>
                    </a:cubicBezTo>
                    <a:close/>
                  </a:path>
                </a:pathLst>
              </a:custGeom>
              <a:solidFill>
                <a:srgbClr val="F0EFFB"/>
              </a:solidFill>
            </p:spPr>
          </p:sp>
        </p:grpSp>
        <p:sp>
          <p:nvSpPr>
            <p:cNvPr name="TextBox 40" id="40"/>
            <p:cNvSpPr txBox="true"/>
            <p:nvPr/>
          </p:nvSpPr>
          <p:spPr>
            <a:xfrm rot="0">
              <a:off x="774745" y="167420"/>
              <a:ext cx="2134482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000000"/>
                  </a:solidFill>
                  <a:latin typeface="Droid Arabic Kufi Bold"/>
                  <a:ea typeface="Droid Arabic Kufi Bold"/>
                  <a:cs typeface="Droid Arabic Kufi Bold"/>
                  <a:sym typeface="Droid Arabic Kufi Bold"/>
                </a:rPr>
                <a:t>Faster</a:t>
              </a:r>
              <a:r>
                <a:rPr lang="en-US" b="true" sz="1200">
                  <a:solidFill>
                    <a:srgbClr val="000000"/>
                  </a:solidFill>
                  <a:latin typeface="Droid Arabic Kufi Bold"/>
                  <a:ea typeface="Droid Arabic Kufi Bold"/>
                  <a:cs typeface="Droid Arabic Kufi Bold"/>
                  <a:sym typeface="Droid Arabic Kufi Bold"/>
                </a:rPr>
                <a:t> Response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938732" y="3287464"/>
            <a:ext cx="4660883" cy="787184"/>
            <a:chOff x="0" y="0"/>
            <a:chExt cx="6214510" cy="1049579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6214510" cy="1049579"/>
              <a:chOff x="0" y="0"/>
              <a:chExt cx="6546904" cy="1105717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6546929" cy="1105684"/>
              </a:xfrm>
              <a:custGeom>
                <a:avLst/>
                <a:gdLst/>
                <a:ahLst/>
                <a:cxnLst/>
                <a:rect r="r" b="b" t="t" l="l"/>
                <a:pathLst>
                  <a:path h="1105684" w="6546929">
                    <a:moveTo>
                      <a:pt x="0" y="104707"/>
                    </a:moveTo>
                    <a:cubicBezTo>
                      <a:pt x="0" y="46851"/>
                      <a:pt x="57931" y="0"/>
                      <a:pt x="129470" y="0"/>
                    </a:cubicBezTo>
                    <a:lnTo>
                      <a:pt x="6417460" y="0"/>
                    </a:lnTo>
                    <a:cubicBezTo>
                      <a:pt x="6488999" y="0"/>
                      <a:pt x="6546929" y="46851"/>
                      <a:pt x="6546929" y="104707"/>
                    </a:cubicBezTo>
                    <a:lnTo>
                      <a:pt x="6546929" y="1000978"/>
                    </a:lnTo>
                    <a:cubicBezTo>
                      <a:pt x="6546929" y="1058833"/>
                      <a:pt x="6488999" y="1105684"/>
                      <a:pt x="6417460" y="1105684"/>
                    </a:cubicBezTo>
                    <a:lnTo>
                      <a:pt x="129470" y="1105684"/>
                    </a:lnTo>
                    <a:cubicBezTo>
                      <a:pt x="57931" y="1105684"/>
                      <a:pt x="0" y="1058833"/>
                      <a:pt x="0" y="1000978"/>
                    </a:cubicBezTo>
                    <a:close/>
                  </a:path>
                </a:pathLst>
              </a:custGeom>
              <a:solidFill>
                <a:srgbClr val="0255A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44" id="44"/>
            <p:cNvSpPr txBox="true"/>
            <p:nvPr/>
          </p:nvSpPr>
          <p:spPr>
            <a:xfrm rot="0">
              <a:off x="325690" y="258369"/>
              <a:ext cx="5563130" cy="537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1679"/>
                </a:lnSpc>
              </a:pPr>
              <a:r>
                <a:rPr lang="en-US" sz="1200">
                  <a:solidFill>
                    <a:srgbClr val="FFFFFF"/>
                  </a:solidFill>
                  <a:latin typeface="Droid Arabic Kufi"/>
                  <a:ea typeface="Droid Arabic Kufi"/>
                  <a:cs typeface="Droid Arabic Kufi"/>
                  <a:sym typeface="Droid Arabic Kufi"/>
                </a:rPr>
                <a:t>Support the identification of suspicious</a:t>
              </a:r>
              <a:r>
                <a:rPr lang="en-US" sz="1200">
                  <a:solidFill>
                    <a:srgbClr val="FFFFFF"/>
                  </a:solidFill>
                  <a:latin typeface="Droid Arabic Kufi"/>
                  <a:ea typeface="Droid Arabic Kufi"/>
                  <a:cs typeface="Droid Arabic Kufi"/>
                  <a:sym typeface="Droid Arabic Kufi"/>
                </a:rPr>
                <a:t> transactions associated with newly emerging patterns</a:t>
              </a:r>
              <a:r>
                <a:rPr lang="ar-EG" sz="1200">
                  <a:solidFill>
                    <a:srgbClr val="FFFFFF"/>
                  </a:solidFill>
                  <a:latin typeface="Droid Arabic Kufi"/>
                  <a:ea typeface="Droid Arabic Kufi"/>
                  <a:cs typeface="Droid Arabic Kufi"/>
                  <a:sym typeface="Droid Arabic Kufi"/>
                  <a:rtl val="true"/>
                </a:rPr>
                <a:t>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886075" y="3592859"/>
            <a:ext cx="2256899" cy="191526"/>
            <a:chOff x="0" y="0"/>
            <a:chExt cx="891614" cy="756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91614" cy="75665"/>
            </a:xfrm>
            <a:custGeom>
              <a:avLst/>
              <a:gdLst/>
              <a:ahLst/>
              <a:cxnLst/>
              <a:rect r="r" b="b" t="t" l="l"/>
              <a:pathLst>
                <a:path h="75665" w="891614">
                  <a:moveTo>
                    <a:pt x="37832" y="0"/>
                  </a:moveTo>
                  <a:lnTo>
                    <a:pt x="853782" y="0"/>
                  </a:lnTo>
                  <a:cubicBezTo>
                    <a:pt x="874676" y="0"/>
                    <a:pt x="891614" y="16938"/>
                    <a:pt x="891614" y="37832"/>
                  </a:cubicBezTo>
                  <a:lnTo>
                    <a:pt x="891614" y="37832"/>
                  </a:lnTo>
                  <a:cubicBezTo>
                    <a:pt x="891614" y="47866"/>
                    <a:pt x="887628" y="57489"/>
                    <a:pt x="880534" y="64584"/>
                  </a:cubicBezTo>
                  <a:cubicBezTo>
                    <a:pt x="873439" y="71679"/>
                    <a:pt x="863816" y="75665"/>
                    <a:pt x="853782" y="75665"/>
                  </a:cubicBezTo>
                  <a:lnTo>
                    <a:pt x="37832" y="75665"/>
                  </a:lnTo>
                  <a:cubicBezTo>
                    <a:pt x="27799" y="75665"/>
                    <a:pt x="18176" y="71679"/>
                    <a:pt x="11081" y="64584"/>
                  </a:cubicBezTo>
                  <a:cubicBezTo>
                    <a:pt x="3986" y="57489"/>
                    <a:pt x="0" y="47866"/>
                    <a:pt x="0" y="37832"/>
                  </a:cubicBezTo>
                  <a:lnTo>
                    <a:pt x="0" y="37832"/>
                  </a:lnTo>
                  <a:cubicBezTo>
                    <a:pt x="0" y="27799"/>
                    <a:pt x="3986" y="18176"/>
                    <a:pt x="11081" y="11081"/>
                  </a:cubicBezTo>
                  <a:cubicBezTo>
                    <a:pt x="18176" y="3986"/>
                    <a:pt x="27799" y="0"/>
                    <a:pt x="3783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891614" cy="94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01729" y="3451669"/>
            <a:ext cx="2762980" cy="458774"/>
            <a:chOff x="0" y="0"/>
            <a:chExt cx="3683973" cy="611699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3683973" cy="611699"/>
              <a:chOff x="0" y="0"/>
              <a:chExt cx="3881016" cy="644417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3881041" cy="644398"/>
              </a:xfrm>
              <a:custGeom>
                <a:avLst/>
                <a:gdLst/>
                <a:ahLst/>
                <a:cxnLst/>
                <a:rect r="r" b="b" t="t" l="l"/>
                <a:pathLst>
                  <a:path h="644398" w="3881041">
                    <a:moveTo>
                      <a:pt x="0" y="61023"/>
                    </a:moveTo>
                    <a:cubicBezTo>
                      <a:pt x="0" y="27305"/>
                      <a:pt x="34342" y="0"/>
                      <a:pt x="76750" y="0"/>
                    </a:cubicBezTo>
                    <a:lnTo>
                      <a:pt x="3804282" y="0"/>
                    </a:lnTo>
                    <a:cubicBezTo>
                      <a:pt x="3846690" y="0"/>
                      <a:pt x="3881041" y="27305"/>
                      <a:pt x="3881041" y="61023"/>
                    </a:cubicBezTo>
                    <a:lnTo>
                      <a:pt x="3881041" y="583375"/>
                    </a:lnTo>
                    <a:cubicBezTo>
                      <a:pt x="3881041" y="617093"/>
                      <a:pt x="3846690" y="644398"/>
                      <a:pt x="3804282" y="644398"/>
                    </a:cubicBezTo>
                    <a:lnTo>
                      <a:pt x="76750" y="644398"/>
                    </a:lnTo>
                    <a:cubicBezTo>
                      <a:pt x="34342" y="644398"/>
                      <a:pt x="0" y="617093"/>
                      <a:pt x="0" y="583375"/>
                    </a:cubicBezTo>
                    <a:close/>
                  </a:path>
                </a:pathLst>
              </a:custGeom>
              <a:solidFill>
                <a:srgbClr val="F0EFFB"/>
              </a:solidFill>
            </p:spPr>
          </p:sp>
        </p:grpSp>
        <p:sp>
          <p:nvSpPr>
            <p:cNvPr name="TextBox 51" id="51"/>
            <p:cNvSpPr txBox="true"/>
            <p:nvPr/>
          </p:nvSpPr>
          <p:spPr>
            <a:xfrm rot="0">
              <a:off x="247510" y="157895"/>
              <a:ext cx="3149210" cy="22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1000" b="true">
                  <a:solidFill>
                    <a:srgbClr val="000000"/>
                  </a:solidFill>
                  <a:latin typeface="Droid Arabic Kufi Bold"/>
                  <a:ea typeface="Droid Arabic Kufi Bold"/>
                  <a:cs typeface="Droid Arabic Kufi Bold"/>
                  <a:sym typeface="Droid Arabic Kufi Bold"/>
                </a:rPr>
                <a:t>Improved Fraud Detection</a:t>
              </a:r>
              <a:r>
                <a:rPr lang="en-US" b="true" sz="1000">
                  <a:solidFill>
                    <a:srgbClr val="000000"/>
                  </a:solidFill>
                  <a:latin typeface="Droid Arabic Kufi Bold"/>
                  <a:ea typeface="Droid Arabic Kufi Bold"/>
                  <a:cs typeface="Droid Arabic Kufi Bold"/>
                  <a:sym typeface="Droid Arabic Kufi Bold"/>
                </a:rPr>
                <a:t> Potential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82679" y="4448403"/>
            <a:ext cx="2762980" cy="458774"/>
            <a:chOff x="0" y="0"/>
            <a:chExt cx="3683973" cy="611699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0" y="0"/>
              <a:ext cx="3683973" cy="611699"/>
              <a:chOff x="0" y="0"/>
              <a:chExt cx="3881016" cy="644417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3881041" cy="644398"/>
              </a:xfrm>
              <a:custGeom>
                <a:avLst/>
                <a:gdLst/>
                <a:ahLst/>
                <a:cxnLst/>
                <a:rect r="r" b="b" t="t" l="l"/>
                <a:pathLst>
                  <a:path h="644398" w="3881041">
                    <a:moveTo>
                      <a:pt x="0" y="61023"/>
                    </a:moveTo>
                    <a:cubicBezTo>
                      <a:pt x="0" y="27305"/>
                      <a:pt x="34342" y="0"/>
                      <a:pt x="76750" y="0"/>
                    </a:cubicBezTo>
                    <a:lnTo>
                      <a:pt x="3804282" y="0"/>
                    </a:lnTo>
                    <a:cubicBezTo>
                      <a:pt x="3846690" y="0"/>
                      <a:pt x="3881041" y="27305"/>
                      <a:pt x="3881041" y="61023"/>
                    </a:cubicBezTo>
                    <a:lnTo>
                      <a:pt x="3881041" y="583375"/>
                    </a:lnTo>
                    <a:cubicBezTo>
                      <a:pt x="3881041" y="617093"/>
                      <a:pt x="3846690" y="644398"/>
                      <a:pt x="3804282" y="644398"/>
                    </a:cubicBezTo>
                    <a:lnTo>
                      <a:pt x="76750" y="644398"/>
                    </a:lnTo>
                    <a:cubicBezTo>
                      <a:pt x="34342" y="644398"/>
                      <a:pt x="0" y="617093"/>
                      <a:pt x="0" y="583375"/>
                    </a:cubicBezTo>
                    <a:close/>
                  </a:path>
                </a:pathLst>
              </a:custGeom>
              <a:solidFill>
                <a:srgbClr val="F0EFFB"/>
              </a:solidFill>
            </p:spPr>
          </p:sp>
        </p:grpSp>
        <p:sp>
          <p:nvSpPr>
            <p:cNvPr name="TextBox 55" id="55"/>
            <p:cNvSpPr txBox="true"/>
            <p:nvPr/>
          </p:nvSpPr>
          <p:spPr>
            <a:xfrm rot="0">
              <a:off x="591164" y="167420"/>
              <a:ext cx="2461904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000000"/>
                  </a:solidFill>
                  <a:latin typeface="Droid Arabic Kufi Bold"/>
                  <a:ea typeface="Droid Arabic Kufi Bold"/>
                  <a:cs typeface="Droid Arabic Kufi Bold"/>
                  <a:sym typeface="Droid Arabic Kufi Bold"/>
                </a:rPr>
                <a:t>Operation</a:t>
              </a:r>
              <a:r>
                <a:rPr lang="en-US" b="true" sz="1200">
                  <a:solidFill>
                    <a:srgbClr val="000000"/>
                  </a:solidFill>
                  <a:latin typeface="Droid Arabic Kufi Bold"/>
                  <a:ea typeface="Droid Arabic Kufi Bold"/>
                  <a:cs typeface="Droid Arabic Kufi Bold"/>
                  <a:sym typeface="Droid Arabic Kufi Bold"/>
                </a:rPr>
                <a:t>al Efficiency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301729" y="5452382"/>
            <a:ext cx="2762980" cy="458774"/>
            <a:chOff x="0" y="0"/>
            <a:chExt cx="3683973" cy="611699"/>
          </a:xfrm>
        </p:grpSpPr>
        <p:grpSp>
          <p:nvGrpSpPr>
            <p:cNvPr name="Group 57" id="57"/>
            <p:cNvGrpSpPr/>
            <p:nvPr/>
          </p:nvGrpSpPr>
          <p:grpSpPr>
            <a:xfrm rot="0">
              <a:off x="0" y="0"/>
              <a:ext cx="3683973" cy="611699"/>
              <a:chOff x="0" y="0"/>
              <a:chExt cx="3881016" cy="644417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3881041" cy="644398"/>
              </a:xfrm>
              <a:custGeom>
                <a:avLst/>
                <a:gdLst/>
                <a:ahLst/>
                <a:cxnLst/>
                <a:rect r="r" b="b" t="t" l="l"/>
                <a:pathLst>
                  <a:path h="644398" w="3881041">
                    <a:moveTo>
                      <a:pt x="0" y="61023"/>
                    </a:moveTo>
                    <a:cubicBezTo>
                      <a:pt x="0" y="27305"/>
                      <a:pt x="34342" y="0"/>
                      <a:pt x="76750" y="0"/>
                    </a:cubicBezTo>
                    <a:lnTo>
                      <a:pt x="3804282" y="0"/>
                    </a:lnTo>
                    <a:cubicBezTo>
                      <a:pt x="3846690" y="0"/>
                      <a:pt x="3881041" y="27305"/>
                      <a:pt x="3881041" y="61023"/>
                    </a:cubicBezTo>
                    <a:lnTo>
                      <a:pt x="3881041" y="583375"/>
                    </a:lnTo>
                    <a:cubicBezTo>
                      <a:pt x="3881041" y="617093"/>
                      <a:pt x="3846690" y="644398"/>
                      <a:pt x="3804282" y="644398"/>
                    </a:cubicBezTo>
                    <a:lnTo>
                      <a:pt x="76750" y="644398"/>
                    </a:lnTo>
                    <a:cubicBezTo>
                      <a:pt x="34342" y="644398"/>
                      <a:pt x="0" y="617093"/>
                      <a:pt x="0" y="583375"/>
                    </a:cubicBezTo>
                    <a:close/>
                  </a:path>
                </a:pathLst>
              </a:custGeom>
              <a:solidFill>
                <a:srgbClr val="F0EFFB"/>
              </a:solidFill>
            </p:spPr>
          </p:sp>
        </p:grpSp>
        <p:sp>
          <p:nvSpPr>
            <p:cNvPr name="TextBox 59" id="59"/>
            <p:cNvSpPr txBox="true"/>
            <p:nvPr/>
          </p:nvSpPr>
          <p:spPr>
            <a:xfrm rot="0">
              <a:off x="611035" y="167420"/>
              <a:ext cx="2461904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000000"/>
                  </a:solidFill>
                  <a:latin typeface="Droid Arabic Kufi Bold"/>
                  <a:ea typeface="Droid Arabic Kufi Bold"/>
                  <a:cs typeface="Droid Arabic Kufi Bold"/>
                  <a:sym typeface="Droid Arabic Kufi Bold"/>
                </a:rPr>
                <a:t>Scal</a:t>
              </a:r>
              <a:r>
                <a:rPr lang="en-US" b="true" sz="1200">
                  <a:solidFill>
                    <a:srgbClr val="000000"/>
                  </a:solidFill>
                  <a:latin typeface="Droid Arabic Kufi Bold"/>
                  <a:ea typeface="Droid Arabic Kufi Bold"/>
                  <a:cs typeface="Droid Arabic Kufi Bold"/>
                  <a:sym typeface="Droid Arabic Kufi Bold"/>
                </a:rPr>
                <a:t>ability Potential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>
            <a:off x="3064708" y="1700180"/>
            <a:ext cx="20211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1" id="61"/>
          <p:cNvSpPr/>
          <p:nvPr/>
        </p:nvSpPr>
        <p:spPr>
          <a:xfrm>
            <a:off x="3017810" y="2693847"/>
            <a:ext cx="206801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2" id="62"/>
          <p:cNvSpPr/>
          <p:nvPr/>
        </p:nvSpPr>
        <p:spPr>
          <a:xfrm>
            <a:off x="3017810" y="3688622"/>
            <a:ext cx="206801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3" id="63"/>
          <p:cNvSpPr/>
          <p:nvPr/>
        </p:nvSpPr>
        <p:spPr>
          <a:xfrm>
            <a:off x="3017810" y="4677790"/>
            <a:ext cx="206801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4" id="64"/>
          <p:cNvSpPr/>
          <p:nvPr/>
        </p:nvSpPr>
        <p:spPr>
          <a:xfrm>
            <a:off x="3017810" y="5681436"/>
            <a:ext cx="206801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65" id="6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49288" y="319088"/>
            <a:ext cx="918737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B</a:t>
            </a:r>
            <a:r>
              <a:rPr lang="en-US" sz="25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usiness Value — Faster Adaptation to Emerging Fraud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2979" y="5592937"/>
            <a:ext cx="9309849" cy="7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8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ⓒ2020 SAMSUNG. All rights reserved.</a:t>
            </a:r>
          </a:p>
          <a:p>
            <a:pPr algn="l">
              <a:lnSpc>
                <a:spcPts val="1198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Electronics Corporate Citizenship Office holds the copyright of book.</a:t>
            </a:r>
          </a:p>
          <a:p>
            <a:pPr algn="l">
              <a:lnSpc>
                <a:spcPts val="1198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This book is a literary property protected by copyright law so reprint and reproduction without permission are prohibited. </a:t>
            </a:r>
          </a:p>
          <a:p>
            <a:pPr algn="l">
              <a:lnSpc>
                <a:spcPts val="1198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271256" y="2628881"/>
            <a:ext cx="3360306" cy="1102138"/>
            <a:chOff x="0" y="0"/>
            <a:chExt cx="4480408" cy="14695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0433" cy="1469517"/>
            </a:xfrm>
            <a:custGeom>
              <a:avLst/>
              <a:gdLst/>
              <a:ahLst/>
              <a:cxnLst/>
              <a:rect r="r" b="b" t="t" l="l"/>
              <a:pathLst>
                <a:path h="1469517" w="4480433">
                  <a:moveTo>
                    <a:pt x="0" y="0"/>
                  </a:moveTo>
                  <a:lnTo>
                    <a:pt x="4480433" y="0"/>
                  </a:lnTo>
                  <a:lnTo>
                    <a:pt x="4480433" y="1469517"/>
                  </a:lnTo>
                  <a:lnTo>
                    <a:pt x="0" y="146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1" r="0" b="-101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DAHZUWEPzh0</dc:identifier>
  <dcterms:modified xsi:type="dcterms:W3CDTF">2011-08-01T06:04:30Z</dcterms:modified>
  <cp:revision>1</cp:revision>
  <dc:title>Few-shot Fraud Detection</dc:title>
</cp:coreProperties>
</file>